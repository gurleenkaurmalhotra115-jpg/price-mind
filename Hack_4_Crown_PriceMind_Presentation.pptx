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9144000" cy="5143500"/>
  <p:notesSz cx="9144000" cy="51435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notesMaster" Target="notesMasters/notesMaster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50" b="1">
                <a:solidFill>
                  <a:srgbClr val="F59E0B"/>
                </a:solidFill>
                <a:latin typeface="Segoe UI"/>
              </a:defRPr>
            </a:pPr>
            <a:r>
              <a:t>Price Forecasting Trend (Samsung Galaxy)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Historical</c:v>
                </c:pt>
              </c:strCache>
            </c:strRef>
          </c:tx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-30d</c:v>
                </c:pt>
                <c:pt idx="1">
                  <c:v>-15d</c:v>
                </c:pt>
                <c:pt idx="2">
                  <c:v>Today</c:v>
                </c:pt>
                <c:pt idx="3">
                  <c:v>7d</c:v>
                </c:pt>
                <c:pt idx="4">
                  <c:v>30d</c:v>
                </c:pt>
                <c:pt idx="5">
                  <c:v>60d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45000</c:v>
                </c:pt>
                <c:pt idx="1">
                  <c:v>44200</c:v>
                </c:pt>
                <c:pt idx="2">
                  <c:v>42999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Predicted</c:v>
                </c:pt>
              </c:strCache>
            </c:strRef>
          </c:tx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-30d</c:v>
                </c:pt>
                <c:pt idx="1">
                  <c:v>-15d</c:v>
                </c:pt>
                <c:pt idx="2">
                  <c:v>Today</c:v>
                </c:pt>
                <c:pt idx="3">
                  <c:v>7d</c:v>
                </c:pt>
                <c:pt idx="4">
                  <c:v>30d</c:v>
                </c:pt>
                <c:pt idx="5">
                  <c:v>60d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2">
                  <c:v>42999</c:v>
                </c:pt>
                <c:pt idx="3">
                  <c:v>42500</c:v>
                </c:pt>
                <c:pt idx="4">
                  <c:v>39999</c:v>
                </c:pt>
                <c:pt idx="5">
                  <c:v>41200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  <c:txPr>
        <a:bodyPr/>
        <a:lstStyle/>
        <a:p>
          <a:pPr>
            <a:defRPr sz="700">
              <a:solidFill>
                <a:srgbClr val="FFFFFF"/>
              </a:solidFill>
              <a:latin typeface="Segoe UI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Forecast Confidence: 82% [EXAMPLE — replace with real output once model is trained]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17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18.png"/><Relationship Id="rId10" Type="http://schemas.openxmlformats.org/officeDocument/2006/relationships/image" Target="../media/image19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5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640035" y="853678"/>
            <a:ext cx="7864475" cy="0"/>
          </a:xfrm>
          <a:custGeom>
            <a:avLst/>
            <a:gdLst/>
            <a:ahLst/>
            <a:cxnLst/>
            <a:rect l="l" t="t" r="r" b="b"/>
            <a:pathLst>
              <a:path w="7864475" h="0">
                <a:moveTo>
                  <a:pt x="0" y="0"/>
                </a:moveTo>
                <a:lnTo>
                  <a:pt x="857249" y="0"/>
                </a:lnTo>
              </a:path>
              <a:path w="7864475" h="0">
                <a:moveTo>
                  <a:pt x="7006679" y="0"/>
                </a:moveTo>
                <a:lnTo>
                  <a:pt x="7863929" y="0"/>
                </a:lnTo>
              </a:path>
            </a:pathLst>
          </a:custGeom>
          <a:ln w="9524">
            <a:solidFill>
              <a:srgbClr val="00B4D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342900" y="1000125"/>
            <a:ext cx="8458200" cy="3872229"/>
          </a:xfrm>
          <a:custGeom>
            <a:avLst/>
            <a:gdLst/>
            <a:ahLst/>
            <a:cxnLst/>
            <a:rect l="l" t="t" r="r" b="b"/>
            <a:pathLst>
              <a:path w="8458200" h="3872229">
                <a:moveTo>
                  <a:pt x="0" y="7143"/>
                </a:moveTo>
                <a:lnTo>
                  <a:pt x="428624" y="7143"/>
                </a:lnTo>
              </a:path>
              <a:path w="8458200" h="3872229">
                <a:moveTo>
                  <a:pt x="7143" y="0"/>
                </a:moveTo>
                <a:lnTo>
                  <a:pt x="7143" y="428624"/>
                </a:lnTo>
              </a:path>
              <a:path w="8458200" h="3872229">
                <a:moveTo>
                  <a:pt x="8029574" y="7143"/>
                </a:moveTo>
                <a:lnTo>
                  <a:pt x="8458199" y="7143"/>
                </a:lnTo>
              </a:path>
              <a:path w="8458200" h="3872229">
                <a:moveTo>
                  <a:pt x="8451056" y="0"/>
                </a:moveTo>
                <a:lnTo>
                  <a:pt x="8451056" y="428624"/>
                </a:lnTo>
              </a:path>
              <a:path w="8458200" h="3872229">
                <a:moveTo>
                  <a:pt x="0" y="3864769"/>
                </a:moveTo>
                <a:lnTo>
                  <a:pt x="428624" y="3864769"/>
                </a:lnTo>
              </a:path>
              <a:path w="8458200" h="3872229">
                <a:moveTo>
                  <a:pt x="7143" y="3443287"/>
                </a:moveTo>
                <a:lnTo>
                  <a:pt x="7143" y="3871912"/>
                </a:lnTo>
              </a:path>
              <a:path w="8458200" h="3872229">
                <a:moveTo>
                  <a:pt x="8451056" y="3443287"/>
                </a:moveTo>
                <a:lnTo>
                  <a:pt x="8451056" y="3871912"/>
                </a:lnTo>
              </a:path>
              <a:path w="8458200" h="3872229">
                <a:moveTo>
                  <a:pt x="8029574" y="3864769"/>
                </a:moveTo>
                <a:lnTo>
                  <a:pt x="8458199" y="3864769"/>
                </a:lnTo>
              </a:path>
            </a:pathLst>
          </a:custGeom>
          <a:ln w="14274">
            <a:solidFill>
              <a:srgbClr val="C9A84C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9" name="bg 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4400" y="0"/>
            <a:ext cx="42862" cy="5143499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80070" y="0"/>
            <a:ext cx="28574" cy="5143499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186738" y="0"/>
            <a:ext cx="42862" cy="5143499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835354" y="0"/>
            <a:ext cx="28574" cy="5143499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036219" y="4679156"/>
            <a:ext cx="1071562" cy="250030"/>
          </a:xfrm>
          <a:prstGeom prst="rect">
            <a:avLst/>
          </a:prstGeom>
        </p:spPr>
      </p:pic>
      <p:pic>
        <p:nvPicPr>
          <p:cNvPr id="24" name="bg object 2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857625" y="4893469"/>
            <a:ext cx="1428749" cy="250030"/>
          </a:xfrm>
          <a:prstGeom prst="rect">
            <a:avLst/>
          </a:prstGeom>
        </p:spPr>
      </p:pic>
      <p:sp>
        <p:nvSpPr>
          <p:cNvPr id="25" name="bg object 25"/>
          <p:cNvSpPr/>
          <p:nvPr/>
        </p:nvSpPr>
        <p:spPr>
          <a:xfrm>
            <a:off x="3861196" y="4897041"/>
            <a:ext cx="1421765" cy="243204"/>
          </a:xfrm>
          <a:custGeom>
            <a:avLst/>
            <a:gdLst/>
            <a:ahLst/>
            <a:cxnLst/>
            <a:rect l="l" t="t" r="r" b="b"/>
            <a:pathLst>
              <a:path w="1421764" h="243204">
                <a:moveTo>
                  <a:pt x="0" y="0"/>
                </a:moveTo>
                <a:lnTo>
                  <a:pt x="1421605" y="0"/>
                </a:lnTo>
                <a:lnTo>
                  <a:pt x="1421605" y="242887"/>
                </a:lnTo>
                <a:lnTo>
                  <a:pt x="0" y="242887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B4DC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26" name="bg object 2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27" name="bg object 2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4572000"/>
            <a:ext cx="9143999" cy="571499"/>
          </a:xfrm>
          <a:prstGeom prst="rect">
            <a:avLst/>
          </a:prstGeom>
        </p:spPr>
      </p:pic>
      <p:sp>
        <p:nvSpPr>
          <p:cNvPr id="28" name="bg object 28"/>
          <p:cNvSpPr/>
          <p:nvPr/>
        </p:nvSpPr>
        <p:spPr>
          <a:xfrm>
            <a:off x="1097234" y="771525"/>
            <a:ext cx="21590" cy="21590"/>
          </a:xfrm>
          <a:custGeom>
            <a:avLst/>
            <a:gdLst/>
            <a:ahLst/>
            <a:cxnLst/>
            <a:rect l="l" t="t" r="r" b="b"/>
            <a:pathLst>
              <a:path w="21590" h="21590">
                <a:moveTo>
                  <a:pt x="16633" y="21430"/>
                </a:moveTo>
                <a:lnTo>
                  <a:pt x="4797" y="21430"/>
                </a:lnTo>
                <a:lnTo>
                  <a:pt x="0" y="16633"/>
                </a:lnTo>
                <a:lnTo>
                  <a:pt x="0" y="10715"/>
                </a:lnTo>
                <a:lnTo>
                  <a:pt x="0" y="4797"/>
                </a:lnTo>
                <a:lnTo>
                  <a:pt x="4797" y="0"/>
                </a:lnTo>
                <a:lnTo>
                  <a:pt x="13557" y="0"/>
                </a:lnTo>
                <a:lnTo>
                  <a:pt x="16282" y="1128"/>
                </a:lnTo>
                <a:lnTo>
                  <a:pt x="20301" y="5148"/>
                </a:lnTo>
                <a:lnTo>
                  <a:pt x="21430" y="7873"/>
                </a:lnTo>
                <a:lnTo>
                  <a:pt x="21430" y="16633"/>
                </a:lnTo>
                <a:lnTo>
                  <a:pt x="16633" y="21430"/>
                </a:lnTo>
                <a:close/>
              </a:path>
            </a:pathLst>
          </a:custGeom>
          <a:solidFill>
            <a:srgbClr val="3ECECE">
              <a:alpha val="1803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bg object 29"/>
          <p:cNvSpPr/>
          <p:nvPr/>
        </p:nvSpPr>
        <p:spPr>
          <a:xfrm>
            <a:off x="7772400" y="1285875"/>
            <a:ext cx="14604" cy="14604"/>
          </a:xfrm>
          <a:custGeom>
            <a:avLst/>
            <a:gdLst/>
            <a:ahLst/>
            <a:cxnLst/>
            <a:rect l="l" t="t" r="r" b="b"/>
            <a:pathLst>
              <a:path w="14604" h="14605">
                <a:moveTo>
                  <a:pt x="11089" y="14287"/>
                </a:moveTo>
                <a:lnTo>
                  <a:pt x="3198" y="14287"/>
                </a:lnTo>
                <a:lnTo>
                  <a:pt x="0" y="11089"/>
                </a:lnTo>
                <a:lnTo>
                  <a:pt x="0" y="7143"/>
                </a:lnTo>
                <a:lnTo>
                  <a:pt x="0" y="3198"/>
                </a:lnTo>
                <a:lnTo>
                  <a:pt x="3198" y="0"/>
                </a:lnTo>
                <a:lnTo>
                  <a:pt x="9038" y="0"/>
                </a:lnTo>
                <a:lnTo>
                  <a:pt x="10855" y="752"/>
                </a:lnTo>
                <a:lnTo>
                  <a:pt x="13534" y="3432"/>
                </a:lnTo>
                <a:lnTo>
                  <a:pt x="14288" y="5249"/>
                </a:lnTo>
                <a:lnTo>
                  <a:pt x="14288" y="11089"/>
                </a:lnTo>
                <a:lnTo>
                  <a:pt x="11089" y="14287"/>
                </a:lnTo>
                <a:close/>
              </a:path>
            </a:pathLst>
          </a:custGeom>
          <a:solidFill>
            <a:srgbClr val="C9A84C">
              <a:alpha val="12156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bg object 30"/>
          <p:cNvSpPr/>
          <p:nvPr/>
        </p:nvSpPr>
        <p:spPr>
          <a:xfrm>
            <a:off x="731452" y="3600450"/>
            <a:ext cx="28575" cy="28575"/>
          </a:xfrm>
          <a:custGeom>
            <a:avLst/>
            <a:gdLst/>
            <a:ahLst/>
            <a:cxnLst/>
            <a:rect l="l" t="t" r="r" b="b"/>
            <a:pathLst>
              <a:path w="28575" h="28575">
                <a:moveTo>
                  <a:pt x="22178" y="28574"/>
                </a:moveTo>
                <a:lnTo>
                  <a:pt x="6396" y="28574"/>
                </a:lnTo>
                <a:lnTo>
                  <a:pt x="0" y="22177"/>
                </a:lnTo>
                <a:lnTo>
                  <a:pt x="0" y="14287"/>
                </a:lnTo>
                <a:lnTo>
                  <a:pt x="0" y="6396"/>
                </a:lnTo>
                <a:lnTo>
                  <a:pt x="6396" y="0"/>
                </a:lnTo>
                <a:lnTo>
                  <a:pt x="18076" y="0"/>
                </a:lnTo>
                <a:lnTo>
                  <a:pt x="21710" y="1505"/>
                </a:lnTo>
                <a:lnTo>
                  <a:pt x="27069" y="6863"/>
                </a:lnTo>
                <a:lnTo>
                  <a:pt x="28574" y="10497"/>
                </a:lnTo>
                <a:lnTo>
                  <a:pt x="28574" y="22177"/>
                </a:lnTo>
                <a:lnTo>
                  <a:pt x="22178" y="28574"/>
                </a:lnTo>
                <a:close/>
              </a:path>
            </a:pathLst>
          </a:custGeom>
          <a:solidFill>
            <a:srgbClr val="3ECECE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bg object 31"/>
          <p:cNvSpPr/>
          <p:nvPr/>
        </p:nvSpPr>
        <p:spPr>
          <a:xfrm>
            <a:off x="8412435" y="3086100"/>
            <a:ext cx="14604" cy="14604"/>
          </a:xfrm>
          <a:custGeom>
            <a:avLst/>
            <a:gdLst/>
            <a:ahLst/>
            <a:cxnLst/>
            <a:rect l="l" t="t" r="r" b="b"/>
            <a:pathLst>
              <a:path w="14604" h="14605">
                <a:moveTo>
                  <a:pt x="11089" y="14287"/>
                </a:moveTo>
                <a:lnTo>
                  <a:pt x="3198" y="14287"/>
                </a:lnTo>
                <a:lnTo>
                  <a:pt x="0" y="11089"/>
                </a:lnTo>
                <a:lnTo>
                  <a:pt x="0" y="7143"/>
                </a:lnTo>
                <a:lnTo>
                  <a:pt x="0" y="3198"/>
                </a:lnTo>
                <a:lnTo>
                  <a:pt x="3198" y="0"/>
                </a:lnTo>
                <a:lnTo>
                  <a:pt x="9038" y="0"/>
                </a:lnTo>
                <a:lnTo>
                  <a:pt x="10855" y="752"/>
                </a:lnTo>
                <a:lnTo>
                  <a:pt x="12195" y="2092"/>
                </a:lnTo>
                <a:lnTo>
                  <a:pt x="13534" y="3432"/>
                </a:lnTo>
                <a:lnTo>
                  <a:pt x="14287" y="5249"/>
                </a:lnTo>
                <a:lnTo>
                  <a:pt x="14287" y="11089"/>
                </a:lnTo>
                <a:lnTo>
                  <a:pt x="11089" y="14287"/>
                </a:lnTo>
                <a:close/>
              </a:path>
            </a:pathLst>
          </a:custGeom>
          <a:solidFill>
            <a:srgbClr val="3ECECE">
              <a:alpha val="1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bg object 32"/>
          <p:cNvSpPr/>
          <p:nvPr/>
        </p:nvSpPr>
        <p:spPr>
          <a:xfrm>
            <a:off x="2743200" y="4114800"/>
            <a:ext cx="21590" cy="21590"/>
          </a:xfrm>
          <a:custGeom>
            <a:avLst/>
            <a:gdLst/>
            <a:ahLst/>
            <a:cxnLst/>
            <a:rect l="l" t="t" r="r" b="b"/>
            <a:pathLst>
              <a:path w="21589" h="21589">
                <a:moveTo>
                  <a:pt x="16633" y="21430"/>
                </a:moveTo>
                <a:lnTo>
                  <a:pt x="4797" y="21430"/>
                </a:lnTo>
                <a:lnTo>
                  <a:pt x="0" y="16633"/>
                </a:lnTo>
                <a:lnTo>
                  <a:pt x="0" y="10715"/>
                </a:lnTo>
                <a:lnTo>
                  <a:pt x="0" y="4797"/>
                </a:lnTo>
                <a:lnTo>
                  <a:pt x="4797" y="0"/>
                </a:lnTo>
                <a:lnTo>
                  <a:pt x="13557" y="0"/>
                </a:lnTo>
                <a:lnTo>
                  <a:pt x="16282" y="1128"/>
                </a:lnTo>
                <a:lnTo>
                  <a:pt x="20301" y="5147"/>
                </a:lnTo>
                <a:lnTo>
                  <a:pt x="21430" y="7873"/>
                </a:lnTo>
                <a:lnTo>
                  <a:pt x="21430" y="16633"/>
                </a:lnTo>
                <a:lnTo>
                  <a:pt x="16633" y="21430"/>
                </a:lnTo>
                <a:close/>
              </a:path>
            </a:pathLst>
          </a:custGeom>
          <a:solidFill>
            <a:srgbClr val="C9A84C">
              <a:alpha val="7843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bg object 33"/>
          <p:cNvSpPr/>
          <p:nvPr/>
        </p:nvSpPr>
        <p:spPr>
          <a:xfrm>
            <a:off x="5029200" y="925784"/>
            <a:ext cx="14604" cy="14604"/>
          </a:xfrm>
          <a:custGeom>
            <a:avLst/>
            <a:gdLst/>
            <a:ahLst/>
            <a:cxnLst/>
            <a:rect l="l" t="t" r="r" b="b"/>
            <a:pathLst>
              <a:path w="14604" h="14605">
                <a:moveTo>
                  <a:pt x="11089" y="14287"/>
                </a:moveTo>
                <a:lnTo>
                  <a:pt x="3198" y="14287"/>
                </a:lnTo>
                <a:lnTo>
                  <a:pt x="0" y="11089"/>
                </a:lnTo>
                <a:lnTo>
                  <a:pt x="0" y="7143"/>
                </a:lnTo>
                <a:lnTo>
                  <a:pt x="0" y="3198"/>
                </a:lnTo>
                <a:lnTo>
                  <a:pt x="3198" y="0"/>
                </a:lnTo>
                <a:lnTo>
                  <a:pt x="9038" y="0"/>
                </a:lnTo>
                <a:lnTo>
                  <a:pt x="10855" y="752"/>
                </a:lnTo>
                <a:lnTo>
                  <a:pt x="12195" y="2092"/>
                </a:lnTo>
                <a:lnTo>
                  <a:pt x="13534" y="3432"/>
                </a:lnTo>
                <a:lnTo>
                  <a:pt x="14287" y="5249"/>
                </a:lnTo>
                <a:lnTo>
                  <a:pt x="14287" y="11089"/>
                </a:lnTo>
                <a:lnTo>
                  <a:pt x="11089" y="14287"/>
                </a:lnTo>
                <a:close/>
              </a:path>
            </a:pathLst>
          </a:custGeom>
          <a:solidFill>
            <a:srgbClr val="3ECECE">
              <a:alpha val="14117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bg object 34"/>
          <p:cNvSpPr/>
          <p:nvPr/>
        </p:nvSpPr>
        <p:spPr>
          <a:xfrm>
            <a:off x="6400800" y="3857625"/>
            <a:ext cx="36195" cy="36195"/>
          </a:xfrm>
          <a:custGeom>
            <a:avLst/>
            <a:gdLst/>
            <a:ahLst/>
            <a:cxnLst/>
            <a:rect l="l" t="t" r="r" b="b"/>
            <a:pathLst>
              <a:path w="36195" h="36195">
                <a:moveTo>
                  <a:pt x="27722" y="35719"/>
                </a:moveTo>
                <a:lnTo>
                  <a:pt x="7995" y="35719"/>
                </a:lnTo>
                <a:lnTo>
                  <a:pt x="0" y="27722"/>
                </a:lnTo>
                <a:lnTo>
                  <a:pt x="0" y="17859"/>
                </a:lnTo>
                <a:lnTo>
                  <a:pt x="0" y="7995"/>
                </a:lnTo>
                <a:lnTo>
                  <a:pt x="7995" y="0"/>
                </a:lnTo>
                <a:lnTo>
                  <a:pt x="22595" y="0"/>
                </a:lnTo>
                <a:lnTo>
                  <a:pt x="27138" y="1881"/>
                </a:lnTo>
                <a:lnTo>
                  <a:pt x="33837" y="8579"/>
                </a:lnTo>
                <a:lnTo>
                  <a:pt x="35719" y="13122"/>
                </a:lnTo>
                <a:lnTo>
                  <a:pt x="35719" y="27722"/>
                </a:lnTo>
                <a:lnTo>
                  <a:pt x="27722" y="35719"/>
                </a:lnTo>
                <a:close/>
              </a:path>
            </a:pathLst>
          </a:custGeom>
          <a:solidFill>
            <a:srgbClr val="C9A84C">
              <a:alpha val="5882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bg object 35"/>
          <p:cNvSpPr/>
          <p:nvPr/>
        </p:nvSpPr>
        <p:spPr>
          <a:xfrm>
            <a:off x="8686800" y="2057400"/>
            <a:ext cx="14604" cy="14604"/>
          </a:xfrm>
          <a:custGeom>
            <a:avLst/>
            <a:gdLst/>
            <a:ahLst/>
            <a:cxnLst/>
            <a:rect l="l" t="t" r="r" b="b"/>
            <a:pathLst>
              <a:path w="14604" h="14605">
                <a:moveTo>
                  <a:pt x="11089" y="14287"/>
                </a:moveTo>
                <a:lnTo>
                  <a:pt x="3198" y="14287"/>
                </a:lnTo>
                <a:lnTo>
                  <a:pt x="0" y="11089"/>
                </a:lnTo>
                <a:lnTo>
                  <a:pt x="0" y="7143"/>
                </a:lnTo>
                <a:lnTo>
                  <a:pt x="0" y="3198"/>
                </a:lnTo>
                <a:lnTo>
                  <a:pt x="3198" y="0"/>
                </a:lnTo>
                <a:lnTo>
                  <a:pt x="9038" y="0"/>
                </a:lnTo>
                <a:lnTo>
                  <a:pt x="10855" y="752"/>
                </a:lnTo>
                <a:lnTo>
                  <a:pt x="13534" y="3432"/>
                </a:lnTo>
                <a:lnTo>
                  <a:pt x="14288" y="5249"/>
                </a:lnTo>
                <a:lnTo>
                  <a:pt x="14288" y="11089"/>
                </a:lnTo>
                <a:lnTo>
                  <a:pt x="11089" y="14287"/>
                </a:lnTo>
                <a:close/>
              </a:path>
            </a:pathLst>
          </a:custGeom>
          <a:solidFill>
            <a:srgbClr val="3ECECE">
              <a:alpha val="1607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bg object 36"/>
          <p:cNvSpPr/>
          <p:nvPr/>
        </p:nvSpPr>
        <p:spPr>
          <a:xfrm>
            <a:off x="4572000" y="4526234"/>
            <a:ext cx="21590" cy="21590"/>
          </a:xfrm>
          <a:custGeom>
            <a:avLst/>
            <a:gdLst/>
            <a:ahLst/>
            <a:cxnLst/>
            <a:rect l="l" t="t" r="r" b="b"/>
            <a:pathLst>
              <a:path w="21589" h="21589">
                <a:moveTo>
                  <a:pt x="16633" y="21430"/>
                </a:moveTo>
                <a:lnTo>
                  <a:pt x="4797" y="21430"/>
                </a:lnTo>
                <a:lnTo>
                  <a:pt x="0" y="16633"/>
                </a:lnTo>
                <a:lnTo>
                  <a:pt x="0" y="10715"/>
                </a:lnTo>
                <a:lnTo>
                  <a:pt x="0" y="4797"/>
                </a:lnTo>
                <a:lnTo>
                  <a:pt x="4797" y="0"/>
                </a:lnTo>
                <a:lnTo>
                  <a:pt x="13557" y="0"/>
                </a:lnTo>
                <a:lnTo>
                  <a:pt x="16282" y="1128"/>
                </a:lnTo>
                <a:lnTo>
                  <a:pt x="20301" y="5148"/>
                </a:lnTo>
                <a:lnTo>
                  <a:pt x="21430" y="7873"/>
                </a:lnTo>
                <a:lnTo>
                  <a:pt x="21430" y="16633"/>
                </a:lnTo>
                <a:lnTo>
                  <a:pt x="16633" y="21430"/>
                </a:lnTo>
                <a:close/>
              </a:path>
            </a:pathLst>
          </a:custGeom>
          <a:solidFill>
            <a:srgbClr val="3ECECE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bg object 37"/>
          <p:cNvSpPr/>
          <p:nvPr/>
        </p:nvSpPr>
        <p:spPr>
          <a:xfrm>
            <a:off x="457200" y="1800225"/>
            <a:ext cx="14604" cy="14604"/>
          </a:xfrm>
          <a:custGeom>
            <a:avLst/>
            <a:gdLst/>
            <a:ahLst/>
            <a:cxnLst/>
            <a:rect l="l" t="t" r="r" b="b"/>
            <a:pathLst>
              <a:path w="14604" h="14605">
                <a:moveTo>
                  <a:pt x="11089" y="14287"/>
                </a:moveTo>
                <a:lnTo>
                  <a:pt x="3198" y="14287"/>
                </a:lnTo>
                <a:lnTo>
                  <a:pt x="0" y="11089"/>
                </a:lnTo>
                <a:lnTo>
                  <a:pt x="0" y="7143"/>
                </a:lnTo>
                <a:lnTo>
                  <a:pt x="0" y="3198"/>
                </a:lnTo>
                <a:lnTo>
                  <a:pt x="3198" y="0"/>
                </a:lnTo>
                <a:lnTo>
                  <a:pt x="9038" y="0"/>
                </a:lnTo>
                <a:lnTo>
                  <a:pt x="10855" y="752"/>
                </a:lnTo>
                <a:lnTo>
                  <a:pt x="13535" y="3432"/>
                </a:lnTo>
                <a:lnTo>
                  <a:pt x="14287" y="5249"/>
                </a:lnTo>
                <a:lnTo>
                  <a:pt x="14287" y="11089"/>
                </a:lnTo>
                <a:lnTo>
                  <a:pt x="11089" y="14287"/>
                </a:lnTo>
                <a:close/>
              </a:path>
            </a:pathLst>
          </a:custGeom>
          <a:solidFill>
            <a:srgbClr val="C9A84C">
              <a:alpha val="12156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bg object 38"/>
          <p:cNvSpPr/>
          <p:nvPr/>
        </p:nvSpPr>
        <p:spPr>
          <a:xfrm>
            <a:off x="7132253" y="2571750"/>
            <a:ext cx="28575" cy="28575"/>
          </a:xfrm>
          <a:custGeom>
            <a:avLst/>
            <a:gdLst/>
            <a:ahLst/>
            <a:cxnLst/>
            <a:rect l="l" t="t" r="r" b="b"/>
            <a:pathLst>
              <a:path w="28575" h="28575">
                <a:moveTo>
                  <a:pt x="22178" y="28574"/>
                </a:moveTo>
                <a:lnTo>
                  <a:pt x="6396" y="28574"/>
                </a:lnTo>
                <a:lnTo>
                  <a:pt x="0" y="22178"/>
                </a:lnTo>
                <a:lnTo>
                  <a:pt x="0" y="14287"/>
                </a:lnTo>
                <a:lnTo>
                  <a:pt x="0" y="6396"/>
                </a:lnTo>
                <a:lnTo>
                  <a:pt x="6396" y="0"/>
                </a:lnTo>
                <a:lnTo>
                  <a:pt x="18076" y="0"/>
                </a:lnTo>
                <a:lnTo>
                  <a:pt x="21710" y="1505"/>
                </a:lnTo>
                <a:lnTo>
                  <a:pt x="24389" y="4184"/>
                </a:lnTo>
                <a:lnTo>
                  <a:pt x="27069" y="6863"/>
                </a:lnTo>
                <a:lnTo>
                  <a:pt x="28574" y="10498"/>
                </a:lnTo>
                <a:lnTo>
                  <a:pt x="28574" y="22178"/>
                </a:lnTo>
                <a:lnTo>
                  <a:pt x="22178" y="28574"/>
                </a:lnTo>
                <a:close/>
              </a:path>
            </a:pathLst>
          </a:custGeom>
          <a:solidFill>
            <a:srgbClr val="3ECECE">
              <a:alpha val="705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bg object 39"/>
          <p:cNvSpPr/>
          <p:nvPr/>
        </p:nvSpPr>
        <p:spPr>
          <a:xfrm>
            <a:off x="3657600" y="514350"/>
            <a:ext cx="14604" cy="14604"/>
          </a:xfrm>
          <a:custGeom>
            <a:avLst/>
            <a:gdLst/>
            <a:ahLst/>
            <a:cxnLst/>
            <a:rect l="l" t="t" r="r" b="b"/>
            <a:pathLst>
              <a:path w="14604" h="14604">
                <a:moveTo>
                  <a:pt x="11089" y="14287"/>
                </a:moveTo>
                <a:lnTo>
                  <a:pt x="3198" y="14287"/>
                </a:lnTo>
                <a:lnTo>
                  <a:pt x="0" y="11089"/>
                </a:lnTo>
                <a:lnTo>
                  <a:pt x="0" y="7143"/>
                </a:lnTo>
                <a:lnTo>
                  <a:pt x="0" y="3198"/>
                </a:lnTo>
                <a:lnTo>
                  <a:pt x="3198" y="0"/>
                </a:lnTo>
                <a:lnTo>
                  <a:pt x="9038" y="0"/>
                </a:lnTo>
                <a:lnTo>
                  <a:pt x="10855" y="752"/>
                </a:lnTo>
                <a:lnTo>
                  <a:pt x="12195" y="2092"/>
                </a:lnTo>
                <a:lnTo>
                  <a:pt x="13534" y="3432"/>
                </a:lnTo>
                <a:lnTo>
                  <a:pt x="14287" y="5249"/>
                </a:lnTo>
                <a:lnTo>
                  <a:pt x="14287" y="11089"/>
                </a:lnTo>
                <a:lnTo>
                  <a:pt x="11089" y="14287"/>
                </a:lnTo>
                <a:close/>
              </a:path>
            </a:pathLst>
          </a:custGeom>
          <a:solidFill>
            <a:srgbClr val="C9A84C">
              <a:alpha val="14901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0" name="bg object 4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944466" y="1737219"/>
            <a:ext cx="1254956" cy="60015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5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5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640035" y="853678"/>
            <a:ext cx="7864475" cy="0"/>
          </a:xfrm>
          <a:custGeom>
            <a:avLst/>
            <a:gdLst/>
            <a:ahLst/>
            <a:cxnLst/>
            <a:rect l="l" t="t" r="r" b="b"/>
            <a:pathLst>
              <a:path w="7864475" h="0">
                <a:moveTo>
                  <a:pt x="0" y="0"/>
                </a:moveTo>
                <a:lnTo>
                  <a:pt x="857249" y="0"/>
                </a:lnTo>
              </a:path>
              <a:path w="7864475" h="0">
                <a:moveTo>
                  <a:pt x="7006679" y="0"/>
                </a:moveTo>
                <a:lnTo>
                  <a:pt x="7863929" y="0"/>
                </a:lnTo>
              </a:path>
            </a:pathLst>
          </a:custGeom>
          <a:ln w="9524">
            <a:solidFill>
              <a:srgbClr val="00B4D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342900" y="1000125"/>
            <a:ext cx="8458200" cy="3872229"/>
          </a:xfrm>
          <a:custGeom>
            <a:avLst/>
            <a:gdLst/>
            <a:ahLst/>
            <a:cxnLst/>
            <a:rect l="l" t="t" r="r" b="b"/>
            <a:pathLst>
              <a:path w="8458200" h="3872229">
                <a:moveTo>
                  <a:pt x="0" y="7143"/>
                </a:moveTo>
                <a:lnTo>
                  <a:pt x="428624" y="7143"/>
                </a:lnTo>
              </a:path>
              <a:path w="8458200" h="3872229">
                <a:moveTo>
                  <a:pt x="7143" y="0"/>
                </a:moveTo>
                <a:lnTo>
                  <a:pt x="7143" y="428624"/>
                </a:lnTo>
              </a:path>
              <a:path w="8458200" h="3872229">
                <a:moveTo>
                  <a:pt x="8029574" y="7143"/>
                </a:moveTo>
                <a:lnTo>
                  <a:pt x="8458199" y="7143"/>
                </a:lnTo>
              </a:path>
              <a:path w="8458200" h="3872229">
                <a:moveTo>
                  <a:pt x="8451056" y="0"/>
                </a:moveTo>
                <a:lnTo>
                  <a:pt x="8451056" y="428624"/>
                </a:lnTo>
              </a:path>
              <a:path w="8458200" h="3872229">
                <a:moveTo>
                  <a:pt x="0" y="3864769"/>
                </a:moveTo>
                <a:lnTo>
                  <a:pt x="428624" y="3864769"/>
                </a:lnTo>
              </a:path>
              <a:path w="8458200" h="3872229">
                <a:moveTo>
                  <a:pt x="7143" y="3443287"/>
                </a:moveTo>
                <a:lnTo>
                  <a:pt x="7143" y="3871912"/>
                </a:lnTo>
              </a:path>
              <a:path w="8458200" h="3872229">
                <a:moveTo>
                  <a:pt x="8451056" y="3443287"/>
                </a:moveTo>
                <a:lnTo>
                  <a:pt x="8451056" y="3871912"/>
                </a:lnTo>
              </a:path>
              <a:path w="8458200" h="3872229">
                <a:moveTo>
                  <a:pt x="8029574" y="3864769"/>
                </a:moveTo>
                <a:lnTo>
                  <a:pt x="8458199" y="3864769"/>
                </a:lnTo>
              </a:path>
            </a:pathLst>
          </a:custGeom>
          <a:ln w="14274">
            <a:solidFill>
              <a:srgbClr val="C9A84C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9" name="bg 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4400" y="0"/>
            <a:ext cx="42862" cy="5143499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80070" y="0"/>
            <a:ext cx="28574" cy="5143499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186738" y="0"/>
            <a:ext cx="42862" cy="5143499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835354" y="0"/>
            <a:ext cx="28574" cy="5143499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036219" y="4679156"/>
            <a:ext cx="1071562" cy="250030"/>
          </a:xfrm>
          <a:prstGeom prst="rect">
            <a:avLst/>
          </a:prstGeom>
        </p:spPr>
      </p:pic>
      <p:pic>
        <p:nvPicPr>
          <p:cNvPr id="24" name="bg object 2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857625" y="4893469"/>
            <a:ext cx="1428749" cy="250030"/>
          </a:xfrm>
          <a:prstGeom prst="rect">
            <a:avLst/>
          </a:prstGeom>
        </p:spPr>
      </p:pic>
      <p:sp>
        <p:nvSpPr>
          <p:cNvPr id="25" name="bg object 25"/>
          <p:cNvSpPr/>
          <p:nvPr/>
        </p:nvSpPr>
        <p:spPr>
          <a:xfrm>
            <a:off x="3861196" y="4897041"/>
            <a:ext cx="1421765" cy="243204"/>
          </a:xfrm>
          <a:custGeom>
            <a:avLst/>
            <a:gdLst/>
            <a:ahLst/>
            <a:cxnLst/>
            <a:rect l="l" t="t" r="r" b="b"/>
            <a:pathLst>
              <a:path w="1421764" h="243204">
                <a:moveTo>
                  <a:pt x="0" y="0"/>
                </a:moveTo>
                <a:lnTo>
                  <a:pt x="1421605" y="0"/>
                </a:lnTo>
                <a:lnTo>
                  <a:pt x="1421605" y="242887"/>
                </a:lnTo>
                <a:lnTo>
                  <a:pt x="0" y="242887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B4DC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26" name="bg object 2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27" name="bg object 2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4572000"/>
            <a:ext cx="9143999" cy="571499"/>
          </a:xfrm>
          <a:prstGeom prst="rect">
            <a:avLst/>
          </a:prstGeom>
        </p:spPr>
      </p:pic>
      <p:sp>
        <p:nvSpPr>
          <p:cNvPr id="28" name="bg object 28"/>
          <p:cNvSpPr/>
          <p:nvPr/>
        </p:nvSpPr>
        <p:spPr>
          <a:xfrm>
            <a:off x="1285875" y="857250"/>
            <a:ext cx="28575" cy="28575"/>
          </a:xfrm>
          <a:custGeom>
            <a:avLst/>
            <a:gdLst/>
            <a:ahLst/>
            <a:cxnLst/>
            <a:rect l="l" t="t" r="r" b="b"/>
            <a:pathLst>
              <a:path w="28575" h="28575">
                <a:moveTo>
                  <a:pt x="22178" y="28574"/>
                </a:moveTo>
                <a:lnTo>
                  <a:pt x="6396" y="28574"/>
                </a:lnTo>
                <a:lnTo>
                  <a:pt x="0" y="22178"/>
                </a:lnTo>
                <a:lnTo>
                  <a:pt x="0" y="14287"/>
                </a:lnTo>
                <a:lnTo>
                  <a:pt x="0" y="6396"/>
                </a:lnTo>
                <a:lnTo>
                  <a:pt x="6396" y="0"/>
                </a:lnTo>
                <a:lnTo>
                  <a:pt x="18076" y="0"/>
                </a:lnTo>
                <a:lnTo>
                  <a:pt x="21710" y="1505"/>
                </a:lnTo>
                <a:lnTo>
                  <a:pt x="27069" y="6864"/>
                </a:lnTo>
                <a:lnTo>
                  <a:pt x="28574" y="10498"/>
                </a:lnTo>
                <a:lnTo>
                  <a:pt x="28574" y="22178"/>
                </a:lnTo>
                <a:lnTo>
                  <a:pt x="22178" y="28574"/>
                </a:lnTo>
                <a:close/>
              </a:path>
            </a:pathLst>
          </a:custGeom>
          <a:solidFill>
            <a:srgbClr val="C9A84C">
              <a:alpha val="12156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bg object 29"/>
          <p:cNvSpPr/>
          <p:nvPr/>
        </p:nvSpPr>
        <p:spPr>
          <a:xfrm>
            <a:off x="6786563" y="1428750"/>
            <a:ext cx="21590" cy="21590"/>
          </a:xfrm>
          <a:custGeom>
            <a:avLst/>
            <a:gdLst/>
            <a:ahLst/>
            <a:cxnLst/>
            <a:rect l="l" t="t" r="r" b="b"/>
            <a:pathLst>
              <a:path w="21590" h="21590">
                <a:moveTo>
                  <a:pt x="16633" y="21430"/>
                </a:moveTo>
                <a:lnTo>
                  <a:pt x="4796" y="21430"/>
                </a:lnTo>
                <a:lnTo>
                  <a:pt x="0" y="16633"/>
                </a:lnTo>
                <a:lnTo>
                  <a:pt x="0" y="10715"/>
                </a:lnTo>
                <a:lnTo>
                  <a:pt x="0" y="4797"/>
                </a:lnTo>
                <a:lnTo>
                  <a:pt x="4796" y="0"/>
                </a:lnTo>
                <a:lnTo>
                  <a:pt x="13556" y="0"/>
                </a:lnTo>
                <a:lnTo>
                  <a:pt x="16282" y="1128"/>
                </a:lnTo>
                <a:lnTo>
                  <a:pt x="20301" y="5147"/>
                </a:lnTo>
                <a:lnTo>
                  <a:pt x="21430" y="7873"/>
                </a:lnTo>
                <a:lnTo>
                  <a:pt x="21430" y="16633"/>
                </a:lnTo>
                <a:lnTo>
                  <a:pt x="16633" y="21430"/>
                </a:lnTo>
                <a:close/>
              </a:path>
            </a:pathLst>
          </a:custGeom>
          <a:solidFill>
            <a:srgbClr val="3ECECE">
              <a:alpha val="1803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bg object 30"/>
          <p:cNvSpPr/>
          <p:nvPr/>
        </p:nvSpPr>
        <p:spPr>
          <a:xfrm>
            <a:off x="857250" y="2500313"/>
            <a:ext cx="36195" cy="36195"/>
          </a:xfrm>
          <a:custGeom>
            <a:avLst/>
            <a:gdLst/>
            <a:ahLst/>
            <a:cxnLst/>
            <a:rect l="l" t="t" r="r" b="b"/>
            <a:pathLst>
              <a:path w="36194" h="36194">
                <a:moveTo>
                  <a:pt x="27722" y="35718"/>
                </a:moveTo>
                <a:lnTo>
                  <a:pt x="7995" y="35718"/>
                </a:lnTo>
                <a:lnTo>
                  <a:pt x="0" y="27722"/>
                </a:lnTo>
                <a:lnTo>
                  <a:pt x="0" y="17859"/>
                </a:lnTo>
                <a:lnTo>
                  <a:pt x="0" y="7995"/>
                </a:lnTo>
                <a:lnTo>
                  <a:pt x="7995" y="0"/>
                </a:lnTo>
                <a:lnTo>
                  <a:pt x="22596" y="0"/>
                </a:lnTo>
                <a:lnTo>
                  <a:pt x="27138" y="1881"/>
                </a:lnTo>
                <a:lnTo>
                  <a:pt x="33837" y="8580"/>
                </a:lnTo>
                <a:lnTo>
                  <a:pt x="35718" y="13122"/>
                </a:lnTo>
                <a:lnTo>
                  <a:pt x="35718" y="27722"/>
                </a:lnTo>
                <a:lnTo>
                  <a:pt x="27722" y="35718"/>
                </a:lnTo>
                <a:close/>
              </a:path>
            </a:pathLst>
          </a:custGeom>
          <a:solidFill>
            <a:srgbClr val="C9A84C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bg object 31"/>
          <p:cNvSpPr/>
          <p:nvPr/>
        </p:nvSpPr>
        <p:spPr>
          <a:xfrm>
            <a:off x="7858125" y="3214688"/>
            <a:ext cx="21590" cy="21590"/>
          </a:xfrm>
          <a:custGeom>
            <a:avLst/>
            <a:gdLst/>
            <a:ahLst/>
            <a:cxnLst/>
            <a:rect l="l" t="t" r="r" b="b"/>
            <a:pathLst>
              <a:path w="21590" h="21589">
                <a:moveTo>
                  <a:pt x="16633" y="21430"/>
                </a:moveTo>
                <a:lnTo>
                  <a:pt x="4797" y="21430"/>
                </a:lnTo>
                <a:lnTo>
                  <a:pt x="0" y="16633"/>
                </a:lnTo>
                <a:lnTo>
                  <a:pt x="0" y="10715"/>
                </a:lnTo>
                <a:lnTo>
                  <a:pt x="0" y="4797"/>
                </a:lnTo>
                <a:lnTo>
                  <a:pt x="4797" y="0"/>
                </a:lnTo>
                <a:lnTo>
                  <a:pt x="13557" y="0"/>
                </a:lnTo>
                <a:lnTo>
                  <a:pt x="16282" y="1128"/>
                </a:lnTo>
                <a:lnTo>
                  <a:pt x="20302" y="5148"/>
                </a:lnTo>
                <a:lnTo>
                  <a:pt x="21431" y="7873"/>
                </a:lnTo>
                <a:lnTo>
                  <a:pt x="21431" y="16633"/>
                </a:lnTo>
                <a:lnTo>
                  <a:pt x="16633" y="21430"/>
                </a:lnTo>
                <a:close/>
              </a:path>
            </a:pathLst>
          </a:custGeom>
          <a:solidFill>
            <a:srgbClr val="3ECECE">
              <a:alpha val="1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bg object 32"/>
          <p:cNvSpPr/>
          <p:nvPr/>
        </p:nvSpPr>
        <p:spPr>
          <a:xfrm>
            <a:off x="2143125" y="3929062"/>
            <a:ext cx="28575" cy="28575"/>
          </a:xfrm>
          <a:custGeom>
            <a:avLst/>
            <a:gdLst/>
            <a:ahLst/>
            <a:cxnLst/>
            <a:rect l="l" t="t" r="r" b="b"/>
            <a:pathLst>
              <a:path w="28575" h="28575">
                <a:moveTo>
                  <a:pt x="22178" y="28574"/>
                </a:moveTo>
                <a:lnTo>
                  <a:pt x="6396" y="28574"/>
                </a:lnTo>
                <a:lnTo>
                  <a:pt x="0" y="22178"/>
                </a:lnTo>
                <a:lnTo>
                  <a:pt x="0" y="14287"/>
                </a:lnTo>
                <a:lnTo>
                  <a:pt x="0" y="6396"/>
                </a:lnTo>
                <a:lnTo>
                  <a:pt x="6396" y="0"/>
                </a:lnTo>
                <a:lnTo>
                  <a:pt x="18076" y="0"/>
                </a:lnTo>
                <a:lnTo>
                  <a:pt x="21710" y="1505"/>
                </a:lnTo>
                <a:lnTo>
                  <a:pt x="27069" y="6863"/>
                </a:lnTo>
                <a:lnTo>
                  <a:pt x="28574" y="10498"/>
                </a:lnTo>
                <a:lnTo>
                  <a:pt x="28574" y="22178"/>
                </a:lnTo>
                <a:lnTo>
                  <a:pt x="22178" y="28574"/>
                </a:lnTo>
                <a:close/>
              </a:path>
            </a:pathLst>
          </a:custGeom>
          <a:solidFill>
            <a:srgbClr val="C9A84C">
              <a:alpha val="7843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bg object 33"/>
          <p:cNvSpPr/>
          <p:nvPr/>
        </p:nvSpPr>
        <p:spPr>
          <a:xfrm>
            <a:off x="5000625" y="1143000"/>
            <a:ext cx="21590" cy="21590"/>
          </a:xfrm>
          <a:custGeom>
            <a:avLst/>
            <a:gdLst/>
            <a:ahLst/>
            <a:cxnLst/>
            <a:rect l="l" t="t" r="r" b="b"/>
            <a:pathLst>
              <a:path w="21589" h="21590">
                <a:moveTo>
                  <a:pt x="16633" y="21430"/>
                </a:moveTo>
                <a:lnTo>
                  <a:pt x="4797" y="21430"/>
                </a:lnTo>
                <a:lnTo>
                  <a:pt x="0" y="16633"/>
                </a:lnTo>
                <a:lnTo>
                  <a:pt x="0" y="10715"/>
                </a:lnTo>
                <a:lnTo>
                  <a:pt x="0" y="4797"/>
                </a:lnTo>
                <a:lnTo>
                  <a:pt x="4797" y="0"/>
                </a:lnTo>
                <a:lnTo>
                  <a:pt x="13557" y="0"/>
                </a:lnTo>
                <a:lnTo>
                  <a:pt x="16282" y="1128"/>
                </a:lnTo>
                <a:lnTo>
                  <a:pt x="20301" y="5147"/>
                </a:lnTo>
                <a:lnTo>
                  <a:pt x="21430" y="7873"/>
                </a:lnTo>
                <a:lnTo>
                  <a:pt x="21430" y="16633"/>
                </a:lnTo>
                <a:lnTo>
                  <a:pt x="16633" y="21430"/>
                </a:lnTo>
                <a:close/>
              </a:path>
            </a:pathLst>
          </a:custGeom>
          <a:solidFill>
            <a:srgbClr val="3ECECE">
              <a:alpha val="14901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bg object 34"/>
          <p:cNvSpPr/>
          <p:nvPr/>
        </p:nvSpPr>
        <p:spPr>
          <a:xfrm>
            <a:off x="3429000" y="2714625"/>
            <a:ext cx="28575" cy="28575"/>
          </a:xfrm>
          <a:custGeom>
            <a:avLst/>
            <a:gdLst/>
            <a:ahLst/>
            <a:cxnLst/>
            <a:rect l="l" t="t" r="r" b="b"/>
            <a:pathLst>
              <a:path w="28575" h="28575">
                <a:moveTo>
                  <a:pt x="22177" y="28574"/>
                </a:moveTo>
                <a:lnTo>
                  <a:pt x="6396" y="28574"/>
                </a:lnTo>
                <a:lnTo>
                  <a:pt x="0" y="22178"/>
                </a:lnTo>
                <a:lnTo>
                  <a:pt x="0" y="14287"/>
                </a:lnTo>
                <a:lnTo>
                  <a:pt x="0" y="6396"/>
                </a:lnTo>
                <a:lnTo>
                  <a:pt x="6396" y="0"/>
                </a:lnTo>
                <a:lnTo>
                  <a:pt x="18076" y="0"/>
                </a:lnTo>
                <a:lnTo>
                  <a:pt x="21710" y="1505"/>
                </a:lnTo>
                <a:lnTo>
                  <a:pt x="27069" y="6863"/>
                </a:lnTo>
                <a:lnTo>
                  <a:pt x="28574" y="10498"/>
                </a:lnTo>
                <a:lnTo>
                  <a:pt x="28574" y="22178"/>
                </a:lnTo>
                <a:lnTo>
                  <a:pt x="22177" y="28574"/>
                </a:lnTo>
                <a:close/>
              </a:path>
            </a:pathLst>
          </a:custGeom>
          <a:solidFill>
            <a:srgbClr val="3ECECE">
              <a:alpha val="1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bg object 35"/>
          <p:cNvSpPr/>
          <p:nvPr/>
        </p:nvSpPr>
        <p:spPr>
          <a:xfrm>
            <a:off x="7500938" y="4286250"/>
            <a:ext cx="21590" cy="21590"/>
          </a:xfrm>
          <a:custGeom>
            <a:avLst/>
            <a:gdLst/>
            <a:ahLst/>
            <a:cxnLst/>
            <a:rect l="l" t="t" r="r" b="b"/>
            <a:pathLst>
              <a:path w="21590" h="21589">
                <a:moveTo>
                  <a:pt x="16633" y="21430"/>
                </a:moveTo>
                <a:lnTo>
                  <a:pt x="4796" y="21430"/>
                </a:lnTo>
                <a:lnTo>
                  <a:pt x="0" y="16633"/>
                </a:lnTo>
                <a:lnTo>
                  <a:pt x="0" y="10715"/>
                </a:lnTo>
                <a:lnTo>
                  <a:pt x="0" y="4797"/>
                </a:lnTo>
                <a:lnTo>
                  <a:pt x="4796" y="0"/>
                </a:lnTo>
                <a:lnTo>
                  <a:pt x="13556" y="0"/>
                </a:lnTo>
                <a:lnTo>
                  <a:pt x="16282" y="1128"/>
                </a:lnTo>
                <a:lnTo>
                  <a:pt x="20301" y="5147"/>
                </a:lnTo>
                <a:lnTo>
                  <a:pt x="21430" y="7873"/>
                </a:lnTo>
                <a:lnTo>
                  <a:pt x="21430" y="16633"/>
                </a:lnTo>
                <a:lnTo>
                  <a:pt x="16633" y="21430"/>
                </a:lnTo>
                <a:close/>
              </a:path>
            </a:pathLst>
          </a:custGeom>
          <a:solidFill>
            <a:srgbClr val="C9A84C">
              <a:alpha val="12156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bg object 36"/>
          <p:cNvSpPr/>
          <p:nvPr/>
        </p:nvSpPr>
        <p:spPr>
          <a:xfrm>
            <a:off x="4286250" y="3714750"/>
            <a:ext cx="36195" cy="36195"/>
          </a:xfrm>
          <a:custGeom>
            <a:avLst/>
            <a:gdLst/>
            <a:ahLst/>
            <a:cxnLst/>
            <a:rect l="l" t="t" r="r" b="b"/>
            <a:pathLst>
              <a:path w="36195" h="36195">
                <a:moveTo>
                  <a:pt x="27722" y="35719"/>
                </a:moveTo>
                <a:lnTo>
                  <a:pt x="7995" y="35719"/>
                </a:lnTo>
                <a:lnTo>
                  <a:pt x="0" y="27722"/>
                </a:lnTo>
                <a:lnTo>
                  <a:pt x="0" y="17859"/>
                </a:lnTo>
                <a:lnTo>
                  <a:pt x="0" y="7995"/>
                </a:lnTo>
                <a:lnTo>
                  <a:pt x="7995" y="0"/>
                </a:lnTo>
                <a:lnTo>
                  <a:pt x="22595" y="0"/>
                </a:lnTo>
                <a:lnTo>
                  <a:pt x="27138" y="1881"/>
                </a:lnTo>
                <a:lnTo>
                  <a:pt x="33837" y="8579"/>
                </a:lnTo>
                <a:lnTo>
                  <a:pt x="35719" y="13122"/>
                </a:lnTo>
                <a:lnTo>
                  <a:pt x="35719" y="27722"/>
                </a:lnTo>
                <a:lnTo>
                  <a:pt x="27722" y="35719"/>
                </a:lnTo>
                <a:close/>
              </a:path>
            </a:pathLst>
          </a:custGeom>
          <a:solidFill>
            <a:srgbClr val="3ECECE">
              <a:alpha val="705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bg object 37"/>
          <p:cNvSpPr/>
          <p:nvPr/>
        </p:nvSpPr>
        <p:spPr>
          <a:xfrm>
            <a:off x="2857500" y="1000125"/>
            <a:ext cx="21590" cy="21590"/>
          </a:xfrm>
          <a:custGeom>
            <a:avLst/>
            <a:gdLst/>
            <a:ahLst/>
            <a:cxnLst/>
            <a:rect l="l" t="t" r="r" b="b"/>
            <a:pathLst>
              <a:path w="21589" h="21590">
                <a:moveTo>
                  <a:pt x="16633" y="21430"/>
                </a:moveTo>
                <a:lnTo>
                  <a:pt x="4797" y="21430"/>
                </a:lnTo>
                <a:lnTo>
                  <a:pt x="0" y="16633"/>
                </a:lnTo>
                <a:lnTo>
                  <a:pt x="0" y="10715"/>
                </a:lnTo>
                <a:lnTo>
                  <a:pt x="0" y="4797"/>
                </a:lnTo>
                <a:lnTo>
                  <a:pt x="4797" y="0"/>
                </a:lnTo>
                <a:lnTo>
                  <a:pt x="13557" y="0"/>
                </a:lnTo>
                <a:lnTo>
                  <a:pt x="16282" y="1128"/>
                </a:lnTo>
                <a:lnTo>
                  <a:pt x="20301" y="5147"/>
                </a:lnTo>
                <a:lnTo>
                  <a:pt x="21430" y="7873"/>
                </a:lnTo>
                <a:lnTo>
                  <a:pt x="21430" y="16633"/>
                </a:lnTo>
                <a:lnTo>
                  <a:pt x="16633" y="21430"/>
                </a:lnTo>
                <a:close/>
              </a:path>
            </a:pathLst>
          </a:custGeom>
          <a:solidFill>
            <a:srgbClr val="C9A84C">
              <a:alpha val="901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bg object 38"/>
          <p:cNvSpPr/>
          <p:nvPr/>
        </p:nvSpPr>
        <p:spPr>
          <a:xfrm>
            <a:off x="1428750" y="4643437"/>
            <a:ext cx="28575" cy="28575"/>
          </a:xfrm>
          <a:custGeom>
            <a:avLst/>
            <a:gdLst/>
            <a:ahLst/>
            <a:cxnLst/>
            <a:rect l="l" t="t" r="r" b="b"/>
            <a:pathLst>
              <a:path w="28575" h="28575">
                <a:moveTo>
                  <a:pt x="22178" y="28574"/>
                </a:moveTo>
                <a:lnTo>
                  <a:pt x="6396" y="28574"/>
                </a:lnTo>
                <a:lnTo>
                  <a:pt x="0" y="22178"/>
                </a:lnTo>
                <a:lnTo>
                  <a:pt x="0" y="14287"/>
                </a:lnTo>
                <a:lnTo>
                  <a:pt x="0" y="6396"/>
                </a:lnTo>
                <a:lnTo>
                  <a:pt x="6396" y="0"/>
                </a:lnTo>
                <a:lnTo>
                  <a:pt x="18076" y="0"/>
                </a:lnTo>
                <a:lnTo>
                  <a:pt x="21710" y="1505"/>
                </a:lnTo>
                <a:lnTo>
                  <a:pt x="27069" y="6863"/>
                </a:lnTo>
                <a:lnTo>
                  <a:pt x="28574" y="10498"/>
                </a:lnTo>
                <a:lnTo>
                  <a:pt x="28574" y="22178"/>
                </a:lnTo>
                <a:lnTo>
                  <a:pt x="22178" y="28574"/>
                </a:lnTo>
                <a:close/>
              </a:path>
            </a:pathLst>
          </a:custGeom>
          <a:solidFill>
            <a:srgbClr val="3ECECE">
              <a:alpha val="12940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9" name="bg object 3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434121" y="2031134"/>
            <a:ext cx="4275757" cy="982934"/>
          </a:xfrm>
          <a:prstGeom prst="rect">
            <a:avLst/>
          </a:prstGeom>
        </p:spPr>
      </p:pic>
      <p:sp>
        <p:nvSpPr>
          <p:cNvPr id="40" name="bg object 40"/>
          <p:cNvSpPr/>
          <p:nvPr/>
        </p:nvSpPr>
        <p:spPr>
          <a:xfrm>
            <a:off x="2441264" y="2038278"/>
            <a:ext cx="4261485" cy="969010"/>
          </a:xfrm>
          <a:custGeom>
            <a:avLst/>
            <a:gdLst/>
            <a:ahLst/>
            <a:cxnLst/>
            <a:rect l="l" t="t" r="r" b="b"/>
            <a:pathLst>
              <a:path w="4261484" h="969010">
                <a:moveTo>
                  <a:pt x="0" y="133353"/>
                </a:moveTo>
                <a:lnTo>
                  <a:pt x="6798" y="91203"/>
                </a:lnTo>
                <a:lnTo>
                  <a:pt x="25729" y="54596"/>
                </a:lnTo>
                <a:lnTo>
                  <a:pt x="54596" y="25729"/>
                </a:lnTo>
                <a:lnTo>
                  <a:pt x="91203" y="6798"/>
                </a:lnTo>
                <a:lnTo>
                  <a:pt x="133353" y="0"/>
                </a:lnTo>
                <a:lnTo>
                  <a:pt x="4128116" y="0"/>
                </a:lnTo>
                <a:lnTo>
                  <a:pt x="4179148" y="10150"/>
                </a:lnTo>
                <a:lnTo>
                  <a:pt x="4222411" y="39058"/>
                </a:lnTo>
                <a:lnTo>
                  <a:pt x="4251318" y="82321"/>
                </a:lnTo>
                <a:lnTo>
                  <a:pt x="4261469" y="133353"/>
                </a:lnTo>
                <a:lnTo>
                  <a:pt x="4261469" y="835294"/>
                </a:lnTo>
                <a:lnTo>
                  <a:pt x="4254671" y="877444"/>
                </a:lnTo>
                <a:lnTo>
                  <a:pt x="4235740" y="914051"/>
                </a:lnTo>
                <a:lnTo>
                  <a:pt x="4206873" y="942918"/>
                </a:lnTo>
                <a:lnTo>
                  <a:pt x="4170266" y="961849"/>
                </a:lnTo>
                <a:lnTo>
                  <a:pt x="4128116" y="968647"/>
                </a:lnTo>
                <a:lnTo>
                  <a:pt x="133353" y="968647"/>
                </a:lnTo>
                <a:lnTo>
                  <a:pt x="91203" y="961849"/>
                </a:lnTo>
                <a:lnTo>
                  <a:pt x="54596" y="942918"/>
                </a:lnTo>
                <a:lnTo>
                  <a:pt x="25729" y="914051"/>
                </a:lnTo>
                <a:lnTo>
                  <a:pt x="6798" y="877444"/>
                </a:lnTo>
                <a:lnTo>
                  <a:pt x="0" y="835294"/>
                </a:lnTo>
                <a:lnTo>
                  <a:pt x="0" y="133353"/>
                </a:lnTo>
                <a:close/>
              </a:path>
            </a:pathLst>
          </a:custGeom>
          <a:ln w="14274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1" name="bg object 4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772259" y="2061297"/>
            <a:ext cx="3599482" cy="86106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5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Relationship Id="rId8" Type="http://schemas.openxmlformats.org/officeDocument/2006/relationships/image" Target="../media/image2.png"/><Relationship Id="rId9" Type="http://schemas.openxmlformats.org/officeDocument/2006/relationships/image" Target="../media/image3.png"/><Relationship Id="rId10" Type="http://schemas.openxmlformats.org/officeDocument/2006/relationships/image" Target="../media/image4.png"/><Relationship Id="rId11" Type="http://schemas.openxmlformats.org/officeDocument/2006/relationships/image" Target="../media/image5.png"/><Relationship Id="rId12" Type="http://schemas.openxmlformats.org/officeDocument/2006/relationships/image" Target="../media/image6.png"/><Relationship Id="rId13" Type="http://schemas.openxmlformats.org/officeDocument/2006/relationships/image" Target="../media/image7.png"/><Relationship Id="rId14" Type="http://schemas.openxmlformats.org/officeDocument/2006/relationships/image" Target="../media/image8.png"/><Relationship Id="rId15" Type="http://schemas.openxmlformats.org/officeDocument/2006/relationships/image" Target="../media/image9.png"/><Relationship Id="rId16" Type="http://schemas.openxmlformats.org/officeDocument/2006/relationships/image" Target="../media/image10.png"/><Relationship Id="rId17" Type="http://schemas.openxmlformats.org/officeDocument/2006/relationships/image" Target="../media/image11.png"/><Relationship Id="rId18" Type="http://schemas.openxmlformats.org/officeDocument/2006/relationships/image" Target="../media/image12.png"/><Relationship Id="rId19" Type="http://schemas.openxmlformats.org/officeDocument/2006/relationships/image" Target="../media/image13.png"/><Relationship Id="rId20" Type="http://schemas.openxmlformats.org/officeDocument/2006/relationships/image" Target="../media/image14.png"/><Relationship Id="rId21" Type="http://schemas.openxmlformats.org/officeDocument/2006/relationships/image" Target="../media/image15.png"/><Relationship Id="rId22" Type="http://schemas.openxmlformats.org/officeDocument/2006/relationships/image" Target="../media/image16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640035" y="853678"/>
            <a:ext cx="7864475" cy="0"/>
          </a:xfrm>
          <a:custGeom>
            <a:avLst/>
            <a:gdLst/>
            <a:ahLst/>
            <a:cxnLst/>
            <a:rect l="l" t="t" r="r" b="b"/>
            <a:pathLst>
              <a:path w="7864475" h="0">
                <a:moveTo>
                  <a:pt x="0" y="0"/>
                </a:moveTo>
                <a:lnTo>
                  <a:pt x="857249" y="0"/>
                </a:lnTo>
              </a:path>
              <a:path w="7864475" h="0">
                <a:moveTo>
                  <a:pt x="7006679" y="0"/>
                </a:moveTo>
                <a:lnTo>
                  <a:pt x="7863929" y="0"/>
                </a:lnTo>
              </a:path>
            </a:pathLst>
          </a:custGeom>
          <a:ln w="9524">
            <a:solidFill>
              <a:srgbClr val="00B4D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342900" y="1000125"/>
            <a:ext cx="8458200" cy="3872229"/>
          </a:xfrm>
          <a:custGeom>
            <a:avLst/>
            <a:gdLst/>
            <a:ahLst/>
            <a:cxnLst/>
            <a:rect l="l" t="t" r="r" b="b"/>
            <a:pathLst>
              <a:path w="8458200" h="3872229">
                <a:moveTo>
                  <a:pt x="0" y="7143"/>
                </a:moveTo>
                <a:lnTo>
                  <a:pt x="428624" y="7143"/>
                </a:lnTo>
              </a:path>
              <a:path w="8458200" h="3872229">
                <a:moveTo>
                  <a:pt x="7143" y="0"/>
                </a:moveTo>
                <a:lnTo>
                  <a:pt x="7143" y="428624"/>
                </a:lnTo>
              </a:path>
              <a:path w="8458200" h="3872229">
                <a:moveTo>
                  <a:pt x="8029574" y="7143"/>
                </a:moveTo>
                <a:lnTo>
                  <a:pt x="8458199" y="7143"/>
                </a:lnTo>
              </a:path>
              <a:path w="8458200" h="3872229">
                <a:moveTo>
                  <a:pt x="8451056" y="0"/>
                </a:moveTo>
                <a:lnTo>
                  <a:pt x="8451056" y="428624"/>
                </a:lnTo>
              </a:path>
              <a:path w="8458200" h="3872229">
                <a:moveTo>
                  <a:pt x="0" y="3864769"/>
                </a:moveTo>
                <a:lnTo>
                  <a:pt x="428624" y="3864769"/>
                </a:lnTo>
              </a:path>
              <a:path w="8458200" h="3872229">
                <a:moveTo>
                  <a:pt x="7143" y="3443287"/>
                </a:moveTo>
                <a:lnTo>
                  <a:pt x="7143" y="3871912"/>
                </a:lnTo>
              </a:path>
              <a:path w="8458200" h="3872229">
                <a:moveTo>
                  <a:pt x="8451056" y="3443287"/>
                </a:moveTo>
                <a:lnTo>
                  <a:pt x="8451056" y="3871912"/>
                </a:lnTo>
              </a:path>
              <a:path w="8458200" h="3872229">
                <a:moveTo>
                  <a:pt x="8029574" y="3864769"/>
                </a:moveTo>
                <a:lnTo>
                  <a:pt x="8458199" y="3864769"/>
                </a:lnTo>
              </a:path>
            </a:pathLst>
          </a:custGeom>
          <a:ln w="14274">
            <a:solidFill>
              <a:srgbClr val="C9A84C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9" name="bg object 1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14400" y="0"/>
            <a:ext cx="42862" cy="5143499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280070" y="0"/>
            <a:ext cx="28574" cy="5143499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186738" y="0"/>
            <a:ext cx="42862" cy="5143499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835354" y="0"/>
            <a:ext cx="28574" cy="5143499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036219" y="4679156"/>
            <a:ext cx="1071562" cy="250030"/>
          </a:xfrm>
          <a:prstGeom prst="rect">
            <a:avLst/>
          </a:prstGeom>
        </p:spPr>
      </p:pic>
      <p:pic>
        <p:nvPicPr>
          <p:cNvPr id="24" name="bg object 24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3857625" y="4893469"/>
            <a:ext cx="1428749" cy="250030"/>
          </a:xfrm>
          <a:prstGeom prst="rect">
            <a:avLst/>
          </a:prstGeom>
        </p:spPr>
      </p:pic>
      <p:sp>
        <p:nvSpPr>
          <p:cNvPr id="25" name="bg object 25"/>
          <p:cNvSpPr/>
          <p:nvPr/>
        </p:nvSpPr>
        <p:spPr>
          <a:xfrm>
            <a:off x="3861196" y="4897041"/>
            <a:ext cx="1421765" cy="243204"/>
          </a:xfrm>
          <a:custGeom>
            <a:avLst/>
            <a:gdLst/>
            <a:ahLst/>
            <a:cxnLst/>
            <a:rect l="l" t="t" r="r" b="b"/>
            <a:pathLst>
              <a:path w="1421764" h="243204">
                <a:moveTo>
                  <a:pt x="0" y="0"/>
                </a:moveTo>
                <a:lnTo>
                  <a:pt x="1421605" y="0"/>
                </a:lnTo>
                <a:lnTo>
                  <a:pt x="1421605" y="242887"/>
                </a:lnTo>
                <a:lnTo>
                  <a:pt x="0" y="242887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00B4DC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26" name="bg object 26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27" name="bg object 27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0" y="4572000"/>
            <a:ext cx="9143999" cy="571499"/>
          </a:xfrm>
          <a:prstGeom prst="rect">
            <a:avLst/>
          </a:prstGeom>
        </p:spPr>
      </p:pic>
      <p:pic>
        <p:nvPicPr>
          <p:cNvPr id="28" name="bg object 28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428625" y="1071563"/>
            <a:ext cx="8286749" cy="3714749"/>
          </a:xfrm>
          <a:prstGeom prst="rect">
            <a:avLst/>
          </a:prstGeom>
        </p:spPr>
      </p:pic>
      <p:sp>
        <p:nvSpPr>
          <p:cNvPr id="29" name="bg object 29"/>
          <p:cNvSpPr/>
          <p:nvPr/>
        </p:nvSpPr>
        <p:spPr>
          <a:xfrm>
            <a:off x="432197" y="1075133"/>
            <a:ext cx="8279765" cy="3707765"/>
          </a:xfrm>
          <a:custGeom>
            <a:avLst/>
            <a:gdLst/>
            <a:ahLst/>
            <a:cxnLst/>
            <a:rect l="l" t="t" r="r" b="b"/>
            <a:pathLst>
              <a:path w="8279765" h="3707765">
                <a:moveTo>
                  <a:pt x="0" y="114305"/>
                </a:moveTo>
                <a:lnTo>
                  <a:pt x="8982" y="69812"/>
                </a:lnTo>
                <a:lnTo>
                  <a:pt x="33479" y="33479"/>
                </a:lnTo>
                <a:lnTo>
                  <a:pt x="69812" y="8982"/>
                </a:lnTo>
                <a:lnTo>
                  <a:pt x="114305" y="0"/>
                </a:lnTo>
                <a:lnTo>
                  <a:pt x="8165300" y="0"/>
                </a:lnTo>
                <a:lnTo>
                  <a:pt x="8209043" y="8700"/>
                </a:lnTo>
                <a:lnTo>
                  <a:pt x="8246126" y="33479"/>
                </a:lnTo>
                <a:lnTo>
                  <a:pt x="8270904" y="70562"/>
                </a:lnTo>
                <a:lnTo>
                  <a:pt x="8279605" y="114305"/>
                </a:lnTo>
                <a:lnTo>
                  <a:pt x="8279605" y="3593300"/>
                </a:lnTo>
                <a:lnTo>
                  <a:pt x="8270623" y="3637793"/>
                </a:lnTo>
                <a:lnTo>
                  <a:pt x="8246126" y="3674126"/>
                </a:lnTo>
                <a:lnTo>
                  <a:pt x="8209793" y="3698623"/>
                </a:lnTo>
                <a:lnTo>
                  <a:pt x="8165300" y="3707605"/>
                </a:lnTo>
                <a:lnTo>
                  <a:pt x="114305" y="3707605"/>
                </a:lnTo>
                <a:lnTo>
                  <a:pt x="69812" y="3698623"/>
                </a:lnTo>
                <a:lnTo>
                  <a:pt x="33479" y="3674126"/>
                </a:lnTo>
                <a:lnTo>
                  <a:pt x="8982" y="3637793"/>
                </a:lnTo>
                <a:lnTo>
                  <a:pt x="0" y="3593300"/>
                </a:lnTo>
                <a:lnTo>
                  <a:pt x="0" y="114305"/>
                </a:lnTo>
                <a:close/>
              </a:path>
            </a:pathLst>
          </a:custGeom>
          <a:ln w="9524">
            <a:solidFill>
              <a:srgbClr val="3ECECE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30" name="bg object 30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097459" y="1522735"/>
            <a:ext cx="7143" cy="2775346"/>
          </a:xfrm>
          <a:prstGeom prst="rect">
            <a:avLst/>
          </a:prstGeom>
        </p:spPr>
      </p:pic>
      <p:pic>
        <p:nvPicPr>
          <p:cNvPr id="31" name="bg object 31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2255639" y="2003822"/>
            <a:ext cx="7143" cy="2035186"/>
          </a:xfrm>
          <a:prstGeom prst="rect">
            <a:avLst/>
          </a:prstGeom>
        </p:spPr>
      </p:pic>
      <p:pic>
        <p:nvPicPr>
          <p:cNvPr id="32" name="bg object 32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3579242" y="1744749"/>
            <a:ext cx="7143" cy="2405210"/>
          </a:xfrm>
          <a:prstGeom prst="rect">
            <a:avLst/>
          </a:prstGeom>
        </p:spPr>
      </p:pic>
      <p:pic>
        <p:nvPicPr>
          <p:cNvPr id="33" name="bg object 33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4737422" y="1374725"/>
            <a:ext cx="7143" cy="2960302"/>
          </a:xfrm>
          <a:prstGeom prst="rect">
            <a:avLst/>
          </a:prstGeom>
        </p:spPr>
      </p:pic>
      <p:pic>
        <p:nvPicPr>
          <p:cNvPr id="34" name="bg object 34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6061025" y="2188778"/>
            <a:ext cx="7144" cy="1850230"/>
          </a:xfrm>
          <a:prstGeom prst="rect">
            <a:avLst/>
          </a:prstGeom>
        </p:spPr>
      </p:pic>
      <p:pic>
        <p:nvPicPr>
          <p:cNvPr id="35" name="bg object 35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7219094" y="1633686"/>
            <a:ext cx="7144" cy="2590278"/>
          </a:xfrm>
          <a:prstGeom prst="rect">
            <a:avLst/>
          </a:prstGeom>
        </p:spPr>
      </p:pic>
      <p:pic>
        <p:nvPicPr>
          <p:cNvPr id="36" name="bg object 36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8129141" y="1818754"/>
            <a:ext cx="7144" cy="2220254"/>
          </a:xfrm>
          <a:prstGeom prst="rect">
            <a:avLst/>
          </a:prstGeom>
        </p:spPr>
      </p:pic>
      <p:pic>
        <p:nvPicPr>
          <p:cNvPr id="37" name="bg object 37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2198489" y="2746871"/>
            <a:ext cx="142875" cy="142875"/>
          </a:xfrm>
          <a:prstGeom prst="rect">
            <a:avLst/>
          </a:prstGeom>
        </p:spPr>
      </p:pic>
      <p:sp>
        <p:nvSpPr>
          <p:cNvPr id="38" name="bg object 38"/>
          <p:cNvSpPr/>
          <p:nvPr/>
        </p:nvSpPr>
        <p:spPr>
          <a:xfrm>
            <a:off x="2255639" y="2854820"/>
            <a:ext cx="28575" cy="28575"/>
          </a:xfrm>
          <a:custGeom>
            <a:avLst/>
            <a:gdLst/>
            <a:ahLst/>
            <a:cxnLst/>
            <a:rect l="l" t="t" r="r" b="b"/>
            <a:pathLst>
              <a:path w="28575" h="28575">
                <a:moveTo>
                  <a:pt x="22178" y="28574"/>
                </a:moveTo>
                <a:lnTo>
                  <a:pt x="6396" y="28574"/>
                </a:lnTo>
                <a:lnTo>
                  <a:pt x="0" y="22178"/>
                </a:lnTo>
                <a:lnTo>
                  <a:pt x="0" y="14287"/>
                </a:lnTo>
                <a:lnTo>
                  <a:pt x="0" y="6396"/>
                </a:lnTo>
                <a:lnTo>
                  <a:pt x="6396" y="0"/>
                </a:lnTo>
                <a:lnTo>
                  <a:pt x="18076" y="0"/>
                </a:lnTo>
                <a:lnTo>
                  <a:pt x="21710" y="1505"/>
                </a:lnTo>
                <a:lnTo>
                  <a:pt x="27069" y="6864"/>
                </a:lnTo>
                <a:lnTo>
                  <a:pt x="28574" y="10498"/>
                </a:lnTo>
                <a:lnTo>
                  <a:pt x="28574" y="22178"/>
                </a:lnTo>
                <a:lnTo>
                  <a:pt x="22178" y="28574"/>
                </a:lnTo>
                <a:close/>
              </a:path>
            </a:pathLst>
          </a:custGeom>
          <a:solidFill>
            <a:srgbClr val="3ECECE">
              <a:alpha val="19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9" name="bg object 39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4680272" y="2265896"/>
            <a:ext cx="142875" cy="142875"/>
          </a:xfrm>
          <a:prstGeom prst="rect">
            <a:avLst/>
          </a:prstGeom>
        </p:spPr>
      </p:pic>
      <p:sp>
        <p:nvSpPr>
          <p:cNvPr id="40" name="bg object 40"/>
          <p:cNvSpPr/>
          <p:nvPr/>
        </p:nvSpPr>
        <p:spPr>
          <a:xfrm>
            <a:off x="4737421" y="2373845"/>
            <a:ext cx="28575" cy="28575"/>
          </a:xfrm>
          <a:custGeom>
            <a:avLst/>
            <a:gdLst/>
            <a:ahLst/>
            <a:cxnLst/>
            <a:rect l="l" t="t" r="r" b="b"/>
            <a:pathLst>
              <a:path w="28575" h="28575">
                <a:moveTo>
                  <a:pt x="22178" y="28574"/>
                </a:moveTo>
                <a:lnTo>
                  <a:pt x="6396" y="28574"/>
                </a:lnTo>
                <a:lnTo>
                  <a:pt x="0" y="22178"/>
                </a:lnTo>
                <a:lnTo>
                  <a:pt x="0" y="14287"/>
                </a:lnTo>
                <a:lnTo>
                  <a:pt x="0" y="6396"/>
                </a:lnTo>
                <a:lnTo>
                  <a:pt x="6396" y="0"/>
                </a:lnTo>
                <a:lnTo>
                  <a:pt x="18076" y="0"/>
                </a:lnTo>
                <a:lnTo>
                  <a:pt x="21710" y="1505"/>
                </a:lnTo>
                <a:lnTo>
                  <a:pt x="27069" y="6864"/>
                </a:lnTo>
                <a:lnTo>
                  <a:pt x="28574" y="10498"/>
                </a:lnTo>
                <a:lnTo>
                  <a:pt x="28574" y="22178"/>
                </a:lnTo>
                <a:lnTo>
                  <a:pt x="22178" y="28574"/>
                </a:lnTo>
                <a:close/>
              </a:path>
            </a:pathLst>
          </a:custGeom>
          <a:solidFill>
            <a:srgbClr val="3ECECE">
              <a:alpha val="19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1" name="bg object 41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6003875" y="2894992"/>
            <a:ext cx="142875" cy="142875"/>
          </a:xfrm>
          <a:prstGeom prst="rect">
            <a:avLst/>
          </a:prstGeom>
        </p:spPr>
      </p:pic>
      <p:sp>
        <p:nvSpPr>
          <p:cNvPr id="42" name="bg object 42"/>
          <p:cNvSpPr/>
          <p:nvPr/>
        </p:nvSpPr>
        <p:spPr>
          <a:xfrm>
            <a:off x="6061025" y="3002941"/>
            <a:ext cx="28575" cy="28575"/>
          </a:xfrm>
          <a:custGeom>
            <a:avLst/>
            <a:gdLst/>
            <a:ahLst/>
            <a:cxnLst/>
            <a:rect l="l" t="t" r="r" b="b"/>
            <a:pathLst>
              <a:path w="28575" h="28575">
                <a:moveTo>
                  <a:pt x="22177" y="28574"/>
                </a:moveTo>
                <a:lnTo>
                  <a:pt x="6396" y="28574"/>
                </a:lnTo>
                <a:lnTo>
                  <a:pt x="0" y="22178"/>
                </a:lnTo>
                <a:lnTo>
                  <a:pt x="0" y="14287"/>
                </a:lnTo>
                <a:lnTo>
                  <a:pt x="0" y="6396"/>
                </a:lnTo>
                <a:lnTo>
                  <a:pt x="6396" y="0"/>
                </a:lnTo>
                <a:lnTo>
                  <a:pt x="18076" y="0"/>
                </a:lnTo>
                <a:lnTo>
                  <a:pt x="21710" y="1505"/>
                </a:lnTo>
                <a:lnTo>
                  <a:pt x="27069" y="6863"/>
                </a:lnTo>
                <a:lnTo>
                  <a:pt x="28574" y="10498"/>
                </a:lnTo>
                <a:lnTo>
                  <a:pt x="28574" y="22178"/>
                </a:lnTo>
                <a:lnTo>
                  <a:pt x="22177" y="28574"/>
                </a:lnTo>
                <a:close/>
              </a:path>
            </a:pathLst>
          </a:custGeom>
          <a:solidFill>
            <a:srgbClr val="3ECECE">
              <a:alpha val="19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3" name="bg object 43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1040309" y="3265016"/>
            <a:ext cx="142875" cy="142875"/>
          </a:xfrm>
          <a:prstGeom prst="rect">
            <a:avLst/>
          </a:prstGeom>
        </p:spPr>
      </p:pic>
      <p:sp>
        <p:nvSpPr>
          <p:cNvPr id="44" name="bg object 44"/>
          <p:cNvSpPr/>
          <p:nvPr/>
        </p:nvSpPr>
        <p:spPr>
          <a:xfrm>
            <a:off x="1097459" y="3372966"/>
            <a:ext cx="28575" cy="28575"/>
          </a:xfrm>
          <a:custGeom>
            <a:avLst/>
            <a:gdLst/>
            <a:ahLst/>
            <a:cxnLst/>
            <a:rect l="l" t="t" r="r" b="b"/>
            <a:pathLst>
              <a:path w="28575" h="28575">
                <a:moveTo>
                  <a:pt x="22178" y="28574"/>
                </a:moveTo>
                <a:lnTo>
                  <a:pt x="6396" y="28574"/>
                </a:lnTo>
                <a:lnTo>
                  <a:pt x="0" y="22178"/>
                </a:lnTo>
                <a:lnTo>
                  <a:pt x="0" y="14287"/>
                </a:lnTo>
                <a:lnTo>
                  <a:pt x="0" y="6396"/>
                </a:lnTo>
                <a:lnTo>
                  <a:pt x="6396" y="0"/>
                </a:lnTo>
                <a:lnTo>
                  <a:pt x="18076" y="0"/>
                </a:lnTo>
                <a:lnTo>
                  <a:pt x="21710" y="1504"/>
                </a:lnTo>
                <a:lnTo>
                  <a:pt x="27069" y="6863"/>
                </a:lnTo>
                <a:lnTo>
                  <a:pt x="28574" y="10497"/>
                </a:lnTo>
                <a:lnTo>
                  <a:pt x="28574" y="22178"/>
                </a:lnTo>
                <a:lnTo>
                  <a:pt x="22178" y="28574"/>
                </a:lnTo>
                <a:close/>
              </a:path>
            </a:pathLst>
          </a:custGeom>
          <a:solidFill>
            <a:srgbClr val="3ECECE">
              <a:alpha val="19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5" name="bg object 45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7161944" y="2450852"/>
            <a:ext cx="142875" cy="142875"/>
          </a:xfrm>
          <a:prstGeom prst="rect">
            <a:avLst/>
          </a:prstGeom>
        </p:spPr>
      </p:pic>
      <p:sp>
        <p:nvSpPr>
          <p:cNvPr id="46" name="bg object 46"/>
          <p:cNvSpPr/>
          <p:nvPr/>
        </p:nvSpPr>
        <p:spPr>
          <a:xfrm>
            <a:off x="7219093" y="2558801"/>
            <a:ext cx="28575" cy="28575"/>
          </a:xfrm>
          <a:custGeom>
            <a:avLst/>
            <a:gdLst/>
            <a:ahLst/>
            <a:cxnLst/>
            <a:rect l="l" t="t" r="r" b="b"/>
            <a:pathLst>
              <a:path w="28575" h="28575">
                <a:moveTo>
                  <a:pt x="22178" y="28574"/>
                </a:moveTo>
                <a:lnTo>
                  <a:pt x="6396" y="28574"/>
                </a:lnTo>
                <a:lnTo>
                  <a:pt x="0" y="22178"/>
                </a:lnTo>
                <a:lnTo>
                  <a:pt x="0" y="14287"/>
                </a:lnTo>
                <a:lnTo>
                  <a:pt x="0" y="6396"/>
                </a:lnTo>
                <a:lnTo>
                  <a:pt x="6396" y="0"/>
                </a:lnTo>
                <a:lnTo>
                  <a:pt x="18077" y="0"/>
                </a:lnTo>
                <a:lnTo>
                  <a:pt x="21711" y="1505"/>
                </a:lnTo>
                <a:lnTo>
                  <a:pt x="27070" y="6864"/>
                </a:lnTo>
                <a:lnTo>
                  <a:pt x="28574" y="10498"/>
                </a:lnTo>
                <a:lnTo>
                  <a:pt x="28574" y="22178"/>
                </a:lnTo>
                <a:lnTo>
                  <a:pt x="22178" y="28574"/>
                </a:lnTo>
                <a:close/>
              </a:path>
            </a:pathLst>
          </a:custGeom>
          <a:solidFill>
            <a:srgbClr val="3ECECE">
              <a:alpha val="19999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7" name="bg object 47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3522092" y="3005944"/>
            <a:ext cx="142875" cy="142875"/>
          </a:xfrm>
          <a:prstGeom prst="rect">
            <a:avLst/>
          </a:prstGeom>
        </p:spPr>
      </p:pic>
      <p:sp>
        <p:nvSpPr>
          <p:cNvPr id="48" name="bg object 48"/>
          <p:cNvSpPr/>
          <p:nvPr/>
        </p:nvSpPr>
        <p:spPr>
          <a:xfrm>
            <a:off x="3579242" y="3113894"/>
            <a:ext cx="28575" cy="28575"/>
          </a:xfrm>
          <a:custGeom>
            <a:avLst/>
            <a:gdLst/>
            <a:ahLst/>
            <a:cxnLst/>
            <a:rect l="l" t="t" r="r" b="b"/>
            <a:pathLst>
              <a:path w="28575" h="28575">
                <a:moveTo>
                  <a:pt x="22177" y="28574"/>
                </a:moveTo>
                <a:lnTo>
                  <a:pt x="6396" y="28574"/>
                </a:lnTo>
                <a:lnTo>
                  <a:pt x="0" y="22178"/>
                </a:lnTo>
                <a:lnTo>
                  <a:pt x="0" y="14287"/>
                </a:lnTo>
                <a:lnTo>
                  <a:pt x="0" y="6396"/>
                </a:lnTo>
                <a:lnTo>
                  <a:pt x="6396" y="0"/>
                </a:lnTo>
                <a:lnTo>
                  <a:pt x="18076" y="0"/>
                </a:lnTo>
                <a:lnTo>
                  <a:pt x="21710" y="1505"/>
                </a:lnTo>
                <a:lnTo>
                  <a:pt x="27069" y="6864"/>
                </a:lnTo>
                <a:lnTo>
                  <a:pt x="28574" y="10498"/>
                </a:lnTo>
                <a:lnTo>
                  <a:pt x="28574" y="22178"/>
                </a:lnTo>
                <a:lnTo>
                  <a:pt x="22177" y="28574"/>
                </a:lnTo>
                <a:close/>
              </a:path>
            </a:pathLst>
          </a:custGeom>
          <a:solidFill>
            <a:srgbClr val="3ECECE">
              <a:alpha val="1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08306" y="2237749"/>
            <a:ext cx="4742180" cy="619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5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57200" y="1183005"/>
            <a:ext cx="822960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2.png"/><Relationship Id="rId5" Type="http://schemas.openxmlformats.org/officeDocument/2006/relationships/image" Target="../media/image2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5.png"/><Relationship Id="rId3" Type="http://schemas.openxmlformats.org/officeDocument/2006/relationships/image" Target="../media/image27.png"/><Relationship Id="rId4" Type="http://schemas.openxmlformats.org/officeDocument/2006/relationships/image" Target="../media/image22.png"/><Relationship Id="rId5" Type="http://schemas.openxmlformats.org/officeDocument/2006/relationships/image" Target="../media/image2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5.png"/><Relationship Id="rId3" Type="http://schemas.openxmlformats.org/officeDocument/2006/relationships/image" Target="../media/image28.png"/><Relationship Id="rId4" Type="http://schemas.openxmlformats.org/officeDocument/2006/relationships/image" Target="../media/image22.png"/><Relationship Id="rId5" Type="http://schemas.openxmlformats.org/officeDocument/2006/relationships/image" Target="../media/image2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29.png"/><Relationship Id="rId18" Type="http://schemas.openxmlformats.org/officeDocument/2006/relationships/image" Target="../media/image25.png"/><Relationship Id="rId19" Type="http://schemas.openxmlformats.org/officeDocument/2006/relationships/image" Target="../media/image30.png"/><Relationship Id="rId20" Type="http://schemas.openxmlformats.org/officeDocument/2006/relationships/image" Target="../media/image22.png"/><Relationship Id="rId21" Type="http://schemas.openxmlformats.org/officeDocument/2006/relationships/image" Target="../media/image2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5.png"/><Relationship Id="rId3" Type="http://schemas.openxmlformats.org/officeDocument/2006/relationships/image" Target="../media/image31.png"/><Relationship Id="rId4" Type="http://schemas.openxmlformats.org/officeDocument/2006/relationships/image" Target="../media/image22.png"/><Relationship Id="rId5" Type="http://schemas.openxmlformats.org/officeDocument/2006/relationships/image" Target="../media/image21.png"/><Relationship Id="rId6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2.png"/><Relationship Id="rId3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77440" y="1097280"/>
            <a:ext cx="773430" cy="2832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>
                <a:solidFill>
                  <a:srgbClr val="C9A84C"/>
                </a:solidFill>
                <a:latin typeface="MS PGothic"/>
                <a:cs typeface="MS PGothic"/>
              </a:rPr>
              <a:t>♛</a:t>
            </a:r>
            <a:r>
              <a:rPr dirty="0" sz="1650" spc="-60">
                <a:solidFill>
                  <a:srgbClr val="C9A84C"/>
                </a:solidFill>
                <a:latin typeface="MS PGothic"/>
                <a:cs typeface="MS PGothic"/>
              </a:rPr>
              <a:t> </a:t>
            </a:r>
            <a:r>
              <a:rPr dirty="0" sz="1650">
                <a:solidFill>
                  <a:srgbClr val="C9A84C"/>
                </a:solidFill>
                <a:latin typeface="MS PGothic"/>
                <a:cs typeface="MS PGothic"/>
              </a:rPr>
              <a:t>♛</a:t>
            </a:r>
            <a:r>
              <a:rPr dirty="0" sz="1650" spc="-55">
                <a:solidFill>
                  <a:srgbClr val="C9A84C"/>
                </a:solidFill>
                <a:latin typeface="MS PGothic"/>
                <a:cs typeface="MS PGothic"/>
              </a:rPr>
              <a:t> </a:t>
            </a:r>
            <a:r>
              <a:rPr dirty="0" sz="1650" spc="-50">
                <a:solidFill>
                  <a:srgbClr val="C9A84C"/>
                </a:solidFill>
                <a:latin typeface="MS PGothic"/>
                <a:cs typeface="MS PGothic"/>
              </a:rPr>
              <a:t>♛</a:t>
            </a:r>
            <a:endParaRPr sz="1650">
              <a:latin typeface="MS PGothic"/>
              <a:cs typeface="MS PGothic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1520" y="1371600"/>
            <a:ext cx="4023360" cy="65271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25450" y="135563"/>
            <a:ext cx="737002" cy="73702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8462" y="126113"/>
            <a:ext cx="755925" cy="755924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731520" y="2103120"/>
            <a:ext cx="4023360" cy="462798"/>
            <a:chOff x="1368600" y="2857700"/>
            <a:chExt cx="6407150" cy="736600"/>
          </a:xfrm>
        </p:grpSpPr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786188" y="3173164"/>
              <a:ext cx="1571624" cy="7143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68600" y="2857700"/>
              <a:ext cx="6406800" cy="736500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731520" y="2560320"/>
            <a:ext cx="4114800" cy="201168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spcAft>
                <a:spcPts val="400"/>
              </a:spcAft>
              <a:defRPr sz="2800" b="1">
                <a:solidFill>
                  <a:srgbClr val="FFFFFF"/>
                </a:solidFill>
                <a:latin typeface="Segoe UI"/>
              </a:defRPr>
            </a:pPr>
            <a:r>
              <a:t>PriceMind</a:t>
            </a:r>
            <a:endParaRPr sz="2100">
              <a:latin typeface="Verdana"/>
              <a:cs typeface="Verdana"/>
            </a:endParaRPr>
          </a:p>
          <a:p>
            <a:pPr>
              <a:spcAft>
                <a:spcPts val="1000"/>
              </a:spcAft>
              <a:defRPr sz="1600" b="1">
                <a:solidFill>
                  <a:srgbClr val="F59E0B"/>
                </a:solidFill>
                <a:latin typeface="Segoe UI"/>
              </a:defRPr>
            </a:pPr>
            <a:r>
              <a:t>Forecast. Explain. Recommend.</a:t>
            </a:r>
          </a:p>
          <a:p>
            <a:pPr>
              <a:spcAft>
                <a:spcPts val="300"/>
              </a:spcAft>
              <a:defRPr sz="1100">
                <a:solidFill>
                  <a:srgbClr val="B4BBC6"/>
                </a:solidFill>
                <a:latin typeface="Segoe UI"/>
              </a:defRPr>
            </a:pPr>
            <a:r>
              <a:t>TRACK: Retail &amp; FinTech</a:t>
            </a:r>
          </a:p>
          <a:p>
            <a:pPr>
              <a:defRPr sz="1200" b="1">
                <a:solidFill>
                  <a:srgbClr val="FFFFFF"/>
                </a:solidFill>
                <a:latin typeface="Segoe UI"/>
              </a:defRPr>
            </a:pPr>
            <a:r>
              <a:t>TEAM: _________________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0" y="1234440"/>
            <a:ext cx="2948939" cy="3223260"/>
          </a:xfrm>
          <a:prstGeom prst="roundRect">
            <a:avLst/>
          </a:prstGeom>
          <a:solidFill>
            <a:srgbClr val="141E30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92140" y="1371600"/>
            <a:ext cx="2537460" cy="10287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0EA5E9"/>
                </a:solidFill>
                <a:latin typeface="Segoe UI"/>
              </a:defRPr>
            </a:pPr>
            <a:r>
              <a:t>LIVE PRODUCT ANALYSIS</a:t>
            </a:r>
          </a:p>
          <a:p>
            <a:pPr>
              <a:spcAft>
                <a:spcPts val="3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t>PriceMind v1</a:t>
            </a:r>
          </a:p>
          <a:p>
            <a:pPr>
              <a:defRPr sz="1300">
                <a:solidFill>
                  <a:srgbClr val="B4BBC6"/>
                </a:solidFill>
                <a:latin typeface="Segoe UI"/>
              </a:defRPr>
            </a:pPr>
            <a:r>
              <a:t>Current Price: ₹42,999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92140" y="1988819"/>
            <a:ext cx="2537460" cy="342900"/>
          </a:xfrm>
          <a:prstGeom prst="roundRect">
            <a:avLst/>
          </a:prstGeom>
          <a:solidFill>
            <a:srgbClr val="3C2D0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20" y="2023110"/>
            <a:ext cx="24003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59E0B"/>
                </a:solidFill>
                <a:latin typeface="Segoe UI"/>
              </a:defRPr>
            </a:pPr>
            <a:r>
              <a:t>RECOMMENDATION: 🟡 WAIT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92140" y="2434589"/>
            <a:ext cx="2537460" cy="2057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B4BBC6"/>
                </a:solidFill>
                <a:latin typeface="Segoe UI"/>
              </a:defRPr>
            </a:pPr>
            <a:r>
              <a:t>Expected Price Trajectory: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92140" y="2640330"/>
            <a:ext cx="754380" cy="480059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B4BB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92140" y="2674620"/>
            <a:ext cx="754380" cy="4114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00">
                <a:solidFill>
                  <a:srgbClr val="B4BBC6"/>
                </a:solidFill>
                <a:latin typeface="Segoe UI"/>
              </a:defRPr>
            </a:pPr>
            <a:r>
              <a:t>7d</a:t>
            </a:r>
          </a:p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₹42,500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0" y="2640330"/>
            <a:ext cx="754380" cy="480059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2674620"/>
            <a:ext cx="754380" cy="4114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00">
                <a:solidFill>
                  <a:srgbClr val="B4BBC6"/>
                </a:solidFill>
                <a:latin typeface="Segoe UI"/>
              </a:defRPr>
            </a:pPr>
            <a:r>
              <a:t>30d</a:t>
            </a:r>
          </a:p>
          <a:p>
            <a:pPr algn="ctr">
              <a:defRPr sz="1000" b="1">
                <a:solidFill>
                  <a:srgbClr val="F59E0B"/>
                </a:solidFill>
                <a:latin typeface="Segoe UI"/>
              </a:defRPr>
            </a:pPr>
            <a:r>
              <a:t>₹39,999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75220" y="2640330"/>
            <a:ext cx="754380" cy="480059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B4BB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75220" y="2674620"/>
            <a:ext cx="754380" cy="4114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00">
                <a:solidFill>
                  <a:srgbClr val="B4BBC6"/>
                </a:solidFill>
                <a:latin typeface="Segoe UI"/>
              </a:defRPr>
            </a:pPr>
            <a:r>
              <a:t>60d</a:t>
            </a:r>
          </a:p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₹41,200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92140" y="3223260"/>
            <a:ext cx="253746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22C55E"/>
                </a:solidFill>
                <a:latin typeface="Segoe UI"/>
              </a:defRPr>
            </a:pPr>
            <a:r>
              <a:t>Potential Saving: ₹3,000</a:t>
            </a:r>
          </a:p>
          <a:p>
            <a:pPr>
              <a:defRPr sz="950" b="1">
                <a:solidFill>
                  <a:srgbClr val="FFFFFF"/>
                </a:solidFill>
                <a:latin typeface="Segoe UI"/>
              </a:defRPr>
            </a:pPr>
            <a:r>
              <a:t>Forecast Confidence: 82%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2594781" y="513555"/>
            <a:ext cx="3954779" cy="516890"/>
            <a:chOff x="2594781" y="513555"/>
            <a:chExt cx="3954779" cy="51689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95972" y="571500"/>
              <a:ext cx="3952055" cy="45719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599544" y="575071"/>
              <a:ext cx="3945254" cy="450215"/>
            </a:xfrm>
            <a:custGeom>
              <a:avLst/>
              <a:gdLst/>
              <a:ahLst/>
              <a:cxnLst/>
              <a:rect l="l" t="t" r="r" b="b"/>
              <a:pathLst>
                <a:path w="3945254" h="450215">
                  <a:moveTo>
                    <a:pt x="0" y="76198"/>
                  </a:moveTo>
                  <a:lnTo>
                    <a:pt x="5988" y="46538"/>
                  </a:lnTo>
                  <a:lnTo>
                    <a:pt x="22318" y="22318"/>
                  </a:lnTo>
                  <a:lnTo>
                    <a:pt x="46538" y="5988"/>
                  </a:lnTo>
                  <a:lnTo>
                    <a:pt x="76198" y="0"/>
                  </a:lnTo>
                  <a:lnTo>
                    <a:pt x="3868714" y="0"/>
                  </a:lnTo>
                  <a:lnTo>
                    <a:pt x="3910989" y="12802"/>
                  </a:lnTo>
                  <a:lnTo>
                    <a:pt x="3939112" y="47038"/>
                  </a:lnTo>
                  <a:lnTo>
                    <a:pt x="3944912" y="76198"/>
                  </a:lnTo>
                  <a:lnTo>
                    <a:pt x="3944912" y="373856"/>
                  </a:lnTo>
                  <a:lnTo>
                    <a:pt x="3938924" y="403517"/>
                  </a:lnTo>
                  <a:lnTo>
                    <a:pt x="3922594" y="427737"/>
                  </a:lnTo>
                  <a:lnTo>
                    <a:pt x="3898374" y="444067"/>
                  </a:lnTo>
                  <a:lnTo>
                    <a:pt x="3868714" y="450055"/>
                  </a:lnTo>
                  <a:lnTo>
                    <a:pt x="76198" y="450055"/>
                  </a:lnTo>
                  <a:lnTo>
                    <a:pt x="46538" y="444067"/>
                  </a:lnTo>
                  <a:lnTo>
                    <a:pt x="22318" y="427737"/>
                  </a:lnTo>
                  <a:lnTo>
                    <a:pt x="5988" y="403517"/>
                  </a:lnTo>
                  <a:lnTo>
                    <a:pt x="0" y="373856"/>
                  </a:lnTo>
                  <a:lnTo>
                    <a:pt x="0" y="76198"/>
                  </a:lnTo>
                  <a:close/>
                </a:path>
              </a:pathLst>
            </a:custGeom>
            <a:ln w="9524">
              <a:solidFill>
                <a:srgbClr val="C9A84C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88866" y="513555"/>
              <a:ext cx="3366269" cy="485851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3354844" y="657380"/>
            <a:ext cx="2433955" cy="2832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b="1">
                <a:solidFill>
                  <a:srgbClr val="FFFFFF"/>
                </a:solidFill>
                <a:latin typeface="Arial"/>
                <a:cs typeface="Arial"/>
              </a:rPr>
              <a:t>PROBLEM</a:t>
            </a:r>
            <a:r>
              <a:rPr dirty="0" sz="1650" spc="17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50" spc="-10" b="1">
                <a:solidFill>
                  <a:srgbClr val="FFFFFF"/>
                </a:solidFill>
                <a:latin typeface="Arial"/>
                <a:cs typeface="Arial"/>
              </a:rPr>
              <a:t>STATEMENT</a:t>
            </a:r>
            <a:endParaRPr sz="165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58462" y="126113"/>
            <a:ext cx="8904605" cy="756285"/>
            <a:chOff x="158462" y="126113"/>
            <a:chExt cx="8904605" cy="756285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8462" y="126113"/>
              <a:ext cx="755925" cy="75592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325450" y="135563"/>
              <a:ext cx="737002" cy="737024"/>
            </a:xfrm>
            <a:prstGeom prst="rect">
              <a:avLst/>
            </a:prstGeom>
          </p:spPr>
        </p:pic>
      </p:grpSp>
      <p:sp>
        <p:nvSpPr>
          <p:cNvPr id="11" name="Rounded Rectangle 10"/>
          <p:cNvSpPr/>
          <p:nvPr/>
        </p:nvSpPr>
        <p:spPr>
          <a:xfrm>
            <a:off x="685800" y="1234440"/>
            <a:ext cx="3566160" cy="3291839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1540" y="1440180"/>
            <a:ext cx="3154679" cy="2880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F59E0B"/>
                </a:solidFill>
                <a:latin typeface="Segoe UI"/>
              </a:defRPr>
            </a:pPr>
            <a:r>
              <a:t>THE SHOPPER'S ANXIETY</a:t>
            </a:r>
          </a:p>
          <a:p>
            <a:pPr>
              <a:spcAft>
                <a:spcPts val="1200"/>
              </a:spcAft>
              <a:defRPr sz="1800" i="1" b="1">
                <a:solidFill>
                  <a:srgbClr val="FFFFFF"/>
                </a:solidFill>
                <a:latin typeface="Segoe UI"/>
              </a:defRPr>
            </a:pPr>
            <a:r>
              <a:t>“Should I buy this now or wait?”</a:t>
            </a:r>
          </a:p>
          <a:p>
            <a:pPr>
              <a:defRPr sz="1100">
                <a:solidFill>
                  <a:srgbClr val="B4BBC6"/>
                </a:solidFill>
                <a:latin typeface="Segoe UI"/>
              </a:defRPr>
            </a:pPr>
            <a:r>
              <a:t>E-commerce buyers face extreme price volatility when shopping for smartphones. Without visibility into future pricing, consumers struggle to know whether to make an immediate purchase or wait for a price drop, leading to shopping anxiety and regret.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0" y="1234440"/>
            <a:ext cx="3771900" cy="3291839"/>
          </a:xfrm>
          <a:prstGeom prst="roundRect">
            <a:avLst/>
          </a:prstGeom>
          <a:solidFill>
            <a:srgbClr val="14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69179" y="1371600"/>
            <a:ext cx="33604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Segoe UI"/>
              </a:defRPr>
            </a:pPr>
            <a:r>
              <a:t>CORE FRICTION POINTS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69179" y="1645919"/>
            <a:ext cx="3360420" cy="822959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37760" y="1714499"/>
            <a:ext cx="32232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• Platform price opacity</a:t>
            </a:r>
          </a:p>
          <a:p>
            <a:pPr>
              <a:defRPr sz="950">
                <a:solidFill>
                  <a:srgbClr val="B4BBC6"/>
                </a:solidFill>
                <a:latin typeface="Segoe UI"/>
              </a:defRPr>
            </a:pPr>
            <a:r>
              <a:t>Dynamic pricing models keep historical trends hidden from buyers.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69179" y="2571750"/>
            <a:ext cx="3360420" cy="822959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37760" y="2640330"/>
            <a:ext cx="32232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• Deceptive discount badges</a:t>
            </a:r>
          </a:p>
          <a:p>
            <a:pPr>
              <a:defRPr sz="950">
                <a:solidFill>
                  <a:srgbClr val="B4BBC6"/>
                </a:solidFill>
                <a:latin typeface="Segoe UI"/>
              </a:defRPr>
            </a:pPr>
            <a:r>
              <a:t>Artificial urgency using inflated MSRP baselines.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69179" y="3497579"/>
            <a:ext cx="3360420" cy="822959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37760" y="3566159"/>
            <a:ext cx="32232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• No forecasting today</a:t>
            </a:r>
          </a:p>
          <a:p>
            <a:pPr>
              <a:defRPr sz="950">
                <a:solidFill>
                  <a:srgbClr val="B4BBC6"/>
                </a:solidFill>
                <a:latin typeface="Segoe UI"/>
              </a:defRPr>
            </a:pPr>
            <a:r>
              <a:t>Consumers lack predictive signals to time purchases.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2594781" y="513555"/>
            <a:ext cx="3954779" cy="516890"/>
            <a:chOff x="2594781" y="513555"/>
            <a:chExt cx="3954779" cy="51689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95972" y="571500"/>
              <a:ext cx="3952055" cy="45719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599544" y="575071"/>
              <a:ext cx="3945254" cy="450215"/>
            </a:xfrm>
            <a:custGeom>
              <a:avLst/>
              <a:gdLst/>
              <a:ahLst/>
              <a:cxnLst/>
              <a:rect l="l" t="t" r="r" b="b"/>
              <a:pathLst>
                <a:path w="3945254" h="450215">
                  <a:moveTo>
                    <a:pt x="0" y="76198"/>
                  </a:moveTo>
                  <a:lnTo>
                    <a:pt x="5988" y="46538"/>
                  </a:lnTo>
                  <a:lnTo>
                    <a:pt x="22318" y="22318"/>
                  </a:lnTo>
                  <a:lnTo>
                    <a:pt x="46538" y="5988"/>
                  </a:lnTo>
                  <a:lnTo>
                    <a:pt x="76198" y="0"/>
                  </a:lnTo>
                  <a:lnTo>
                    <a:pt x="3868714" y="0"/>
                  </a:lnTo>
                  <a:lnTo>
                    <a:pt x="3910989" y="12802"/>
                  </a:lnTo>
                  <a:lnTo>
                    <a:pt x="3939112" y="47038"/>
                  </a:lnTo>
                  <a:lnTo>
                    <a:pt x="3944912" y="76198"/>
                  </a:lnTo>
                  <a:lnTo>
                    <a:pt x="3944912" y="373856"/>
                  </a:lnTo>
                  <a:lnTo>
                    <a:pt x="3938924" y="403517"/>
                  </a:lnTo>
                  <a:lnTo>
                    <a:pt x="3922594" y="427737"/>
                  </a:lnTo>
                  <a:lnTo>
                    <a:pt x="3898374" y="444067"/>
                  </a:lnTo>
                  <a:lnTo>
                    <a:pt x="3868714" y="450055"/>
                  </a:lnTo>
                  <a:lnTo>
                    <a:pt x="76198" y="450055"/>
                  </a:lnTo>
                  <a:lnTo>
                    <a:pt x="46538" y="444067"/>
                  </a:lnTo>
                  <a:lnTo>
                    <a:pt x="22318" y="427737"/>
                  </a:lnTo>
                  <a:lnTo>
                    <a:pt x="5988" y="403517"/>
                  </a:lnTo>
                  <a:lnTo>
                    <a:pt x="0" y="373856"/>
                  </a:lnTo>
                  <a:lnTo>
                    <a:pt x="0" y="76198"/>
                  </a:lnTo>
                  <a:close/>
                </a:path>
              </a:pathLst>
            </a:custGeom>
            <a:ln w="9524">
              <a:solidFill>
                <a:srgbClr val="C9A84C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88866" y="513555"/>
              <a:ext cx="3366269" cy="485851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4005677" y="657380"/>
            <a:ext cx="1132840" cy="2832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10" b="1">
                <a:solidFill>
                  <a:srgbClr val="FFFFFF"/>
                </a:solidFill>
                <a:latin typeface="Arial"/>
                <a:cs typeface="Arial"/>
              </a:rPr>
              <a:t>SOLUTION</a:t>
            </a:r>
            <a:endParaRPr sz="165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58462" y="126113"/>
            <a:ext cx="8904605" cy="756285"/>
            <a:chOff x="158462" y="126113"/>
            <a:chExt cx="8904605" cy="756285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8462" y="126113"/>
              <a:ext cx="755925" cy="75592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325450" y="135563"/>
              <a:ext cx="737002" cy="737024"/>
            </a:xfrm>
            <a:prstGeom prst="rect">
              <a:avLst/>
            </a:prstGeom>
          </p:spPr>
        </p:pic>
      </p:grpSp>
      <p:sp>
        <p:nvSpPr>
          <p:cNvPr id="11" name="Rounded Rectangle 10"/>
          <p:cNvSpPr/>
          <p:nvPr/>
        </p:nvSpPr>
        <p:spPr>
          <a:xfrm>
            <a:off x="685800" y="1234440"/>
            <a:ext cx="3566160" cy="3086100"/>
          </a:xfrm>
          <a:prstGeom prst="roundRect">
            <a:avLst/>
          </a:prstGeom>
          <a:solidFill>
            <a:srgbClr val="14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1540" y="1371600"/>
            <a:ext cx="31546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59E0B"/>
                </a:solidFill>
                <a:latin typeface="Segoe UI"/>
              </a:defRPr>
            </a:pPr>
            <a:r>
              <a:t>INTELLIGENT DECISION SUPPORT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1540" y="1645919"/>
            <a:ext cx="3154679" cy="72009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80160" y="1714499"/>
            <a:ext cx="3017520" cy="5829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WHERE to Buy</a:t>
            </a:r>
          </a:p>
          <a:p>
            <a:pPr>
              <a:defRPr sz="950">
                <a:solidFill>
                  <a:srgbClr val="B4BBC6"/>
                </a:solidFill>
                <a:latin typeface="Segoe UI"/>
              </a:defRPr>
            </a:pPr>
            <a:r>
              <a:t>Prepared static product and pricing metadata from historical dataset.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1540" y="2468879"/>
            <a:ext cx="3154679" cy="72009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2537459"/>
            <a:ext cx="3017520" cy="5829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WHEN to Buy</a:t>
            </a:r>
          </a:p>
          <a:p>
            <a:pPr>
              <a:defRPr sz="950">
                <a:solidFill>
                  <a:srgbClr val="B4BBC6"/>
                </a:solidFill>
                <a:latin typeface="Segoe UI"/>
              </a:defRPr>
            </a:pPr>
            <a:r>
              <a:t>XGBoost forecasting engine predicts future pricing (7/30/60 days).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1540" y="3291839"/>
            <a:ext cx="3154679" cy="72009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0160" y="3360419"/>
            <a:ext cx="3017520" cy="5829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WHETHER to Buy</a:t>
            </a:r>
          </a:p>
          <a:p>
            <a:pPr>
              <a:defRPr sz="950">
                <a:solidFill>
                  <a:srgbClr val="B4BBC6"/>
                </a:solidFill>
                <a:latin typeface="Segoe UI"/>
              </a:defRPr>
            </a:pPr>
            <a:r>
              <a:t>Confidence-scored recommendation engine advises immediately.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63440" y="1234440"/>
            <a:ext cx="3771900" cy="30861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69179" y="1371600"/>
            <a:ext cx="33604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Segoe UI"/>
              </a:defRPr>
            </a:pPr>
            <a:r>
              <a:t>PRICEMIND WORKFLOW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69179" y="1645919"/>
            <a:ext cx="3360420" cy="466344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37760" y="1700783"/>
            <a:ext cx="3223260" cy="3566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Segoe UI"/>
              </a:defRPr>
            </a:pPr>
            <a:r>
              <a:t>1. Product Search</a:t>
            </a:r>
          </a:p>
          <a:p>
            <a:pPr>
              <a:defRPr sz="800">
                <a:solidFill>
                  <a:srgbClr val="B4BBC6"/>
                </a:solidFill>
                <a:latin typeface="Segoe UI"/>
              </a:defRPr>
            </a:pPr>
            <a:r>
              <a:t>Query smartphone model details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869179" y="2160270"/>
            <a:ext cx="3360420" cy="466344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37760" y="2215134"/>
            <a:ext cx="3223260" cy="3566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Segoe UI"/>
              </a:defRPr>
            </a:pPr>
            <a:r>
              <a:t>2. Historical Price Load</a:t>
            </a:r>
          </a:p>
          <a:p>
            <a:pPr>
              <a:defRPr sz="800">
                <a:solidFill>
                  <a:srgbClr val="B4BBC6"/>
                </a:solidFill>
                <a:latin typeface="Segoe UI"/>
              </a:defRPr>
            </a:pPr>
            <a:r>
              <a:t>Load static historical records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869179" y="2674620"/>
            <a:ext cx="3360420" cy="466344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37760" y="2729484"/>
            <a:ext cx="3223260" cy="3566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Segoe UI"/>
              </a:defRPr>
            </a:pPr>
            <a:r>
              <a:t>3. Feature Engineering</a:t>
            </a:r>
          </a:p>
          <a:p>
            <a:pPr>
              <a:defRPr sz="800">
                <a:solidFill>
                  <a:srgbClr val="B4BBC6"/>
                </a:solidFill>
                <a:latin typeface="Segoe UI"/>
              </a:defRPr>
            </a:pPr>
            <a:r>
              <a:t>Compute lags, volatility, festivals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869179" y="3188970"/>
            <a:ext cx="3360420" cy="466344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37760" y="3243834"/>
            <a:ext cx="3223260" cy="3566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Segoe UI"/>
              </a:defRPr>
            </a:pPr>
            <a:r>
              <a:t>4. XGBoost Forecast</a:t>
            </a:r>
          </a:p>
          <a:p>
            <a:pPr>
              <a:defRPr sz="800">
                <a:solidFill>
                  <a:srgbClr val="B4BBC6"/>
                </a:solidFill>
                <a:latin typeface="Segoe UI"/>
              </a:defRPr>
            </a:pPr>
            <a:r>
              <a:t>Predict 7/30/60d price trends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869179" y="3703320"/>
            <a:ext cx="3360420" cy="466344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937760" y="3758184"/>
            <a:ext cx="3223260" cy="3566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F59E0B"/>
                </a:solidFill>
                <a:latin typeface="Segoe UI"/>
              </a:defRPr>
            </a:pPr>
            <a:r>
              <a:t>5. Recommendation Engine</a:t>
            </a:r>
          </a:p>
          <a:p>
            <a:pPr>
              <a:defRPr sz="800">
                <a:solidFill>
                  <a:srgbClr val="B4BBC6"/>
                </a:solidFill>
                <a:latin typeface="Segoe UI"/>
              </a:defRPr>
            </a:pPr>
            <a:r>
              <a:t>Advises BUY / WAIT / STRONG BUY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4402836"/>
            <a:ext cx="7749540" cy="288036"/>
          </a:xfrm>
          <a:prstGeom prst="roundRect">
            <a:avLst/>
          </a:prstGeom>
          <a:solidFill>
            <a:srgbClr val="141E30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4380" y="4430268"/>
            <a:ext cx="7612379" cy="2331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59E0B"/>
                </a:solidFill>
                <a:latin typeface="Segoe UI"/>
              </a:defRPr>
            </a:pPr>
            <a:r>
              <a:t>Unlike price-history trackers: PriceMind forecasts and recommends — not just logs.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2594781" y="513555"/>
            <a:ext cx="3954779" cy="516890"/>
            <a:chOff x="2594781" y="513555"/>
            <a:chExt cx="3954779" cy="51689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95972" y="571500"/>
              <a:ext cx="3952055" cy="45719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599544" y="575071"/>
              <a:ext cx="3945254" cy="450215"/>
            </a:xfrm>
            <a:custGeom>
              <a:avLst/>
              <a:gdLst/>
              <a:ahLst/>
              <a:cxnLst/>
              <a:rect l="l" t="t" r="r" b="b"/>
              <a:pathLst>
                <a:path w="3945254" h="450215">
                  <a:moveTo>
                    <a:pt x="0" y="76198"/>
                  </a:moveTo>
                  <a:lnTo>
                    <a:pt x="5988" y="46538"/>
                  </a:lnTo>
                  <a:lnTo>
                    <a:pt x="22318" y="22318"/>
                  </a:lnTo>
                  <a:lnTo>
                    <a:pt x="46538" y="5988"/>
                  </a:lnTo>
                  <a:lnTo>
                    <a:pt x="76198" y="0"/>
                  </a:lnTo>
                  <a:lnTo>
                    <a:pt x="3868714" y="0"/>
                  </a:lnTo>
                  <a:lnTo>
                    <a:pt x="3910989" y="12802"/>
                  </a:lnTo>
                  <a:lnTo>
                    <a:pt x="3939112" y="47038"/>
                  </a:lnTo>
                  <a:lnTo>
                    <a:pt x="3944912" y="76198"/>
                  </a:lnTo>
                  <a:lnTo>
                    <a:pt x="3944912" y="373856"/>
                  </a:lnTo>
                  <a:lnTo>
                    <a:pt x="3938924" y="403517"/>
                  </a:lnTo>
                  <a:lnTo>
                    <a:pt x="3922594" y="427737"/>
                  </a:lnTo>
                  <a:lnTo>
                    <a:pt x="3898374" y="444067"/>
                  </a:lnTo>
                  <a:lnTo>
                    <a:pt x="3868714" y="450055"/>
                  </a:lnTo>
                  <a:lnTo>
                    <a:pt x="76198" y="450055"/>
                  </a:lnTo>
                  <a:lnTo>
                    <a:pt x="46538" y="444067"/>
                  </a:lnTo>
                  <a:lnTo>
                    <a:pt x="22318" y="427737"/>
                  </a:lnTo>
                  <a:lnTo>
                    <a:pt x="5988" y="403517"/>
                  </a:lnTo>
                  <a:lnTo>
                    <a:pt x="0" y="373856"/>
                  </a:lnTo>
                  <a:lnTo>
                    <a:pt x="0" y="76198"/>
                  </a:lnTo>
                  <a:close/>
                </a:path>
              </a:pathLst>
            </a:custGeom>
            <a:ln w="9524">
              <a:solidFill>
                <a:srgbClr val="C9A84C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88866" y="513555"/>
              <a:ext cx="3366269" cy="485851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3713980" y="657380"/>
            <a:ext cx="1714500" cy="2832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10" b="1">
                <a:solidFill>
                  <a:srgbClr val="FFFFFF"/>
                </a:solidFill>
                <a:latin typeface="Arial"/>
                <a:cs typeface="Arial"/>
              </a:rPr>
              <a:t>ARCHITECTURE</a:t>
            </a:r>
            <a:endParaRPr sz="165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58462" y="126113"/>
            <a:ext cx="8904605" cy="756285"/>
            <a:chOff x="158462" y="126113"/>
            <a:chExt cx="8904605" cy="756285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8462" y="126113"/>
              <a:ext cx="755925" cy="75592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325450" y="135563"/>
              <a:ext cx="737002" cy="737024"/>
            </a:xfrm>
            <a:prstGeom prst="rect">
              <a:avLst/>
            </a:prstGeom>
          </p:spPr>
        </p:pic>
      </p:grpSp>
      <p:sp>
        <p:nvSpPr>
          <p:cNvPr id="11" name="Rounded Rectangle 10"/>
          <p:cNvSpPr/>
          <p:nvPr/>
        </p:nvSpPr>
        <p:spPr>
          <a:xfrm>
            <a:off x="685800" y="1234440"/>
            <a:ext cx="1371600" cy="3291839"/>
          </a:xfrm>
          <a:prstGeom prst="roundRect">
            <a:avLst/>
          </a:prstGeom>
          <a:solidFill>
            <a:srgbClr val="141E30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1371600"/>
            <a:ext cx="1207008" cy="30175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EA5E9"/>
                </a:solidFill>
                <a:latin typeface="Segoe UI"/>
              </a:defRPr>
            </a:pPr>
            <a:r>
              <a:t>1. FRONTEND</a:t>
            </a:r>
          </a:p>
          <a:p>
            <a:pPr>
              <a:spcAft>
                <a:spcPts val="1500"/>
              </a:spcAft>
              <a:defRPr sz="950" i="1">
                <a:solidFill>
                  <a:srgbClr val="B4BBC6"/>
                </a:solidFill>
                <a:latin typeface="Segoe UI"/>
              </a:defRPr>
            </a:pPr>
            <a:r>
              <a:t>Vanilla JS Client</a:t>
            </a:r>
          </a:p>
          <a:p>
            <a:pPr>
              <a:spcAft>
                <a:spcPts val="600"/>
              </a:spcAft>
              <a:defRPr sz="800">
                <a:solidFill>
                  <a:srgbClr val="B4BBC6"/>
                </a:solidFill>
                <a:latin typeface="Segoe UI"/>
              </a:defRPr>
            </a:pPr>
            <a:r>
              <a:t>• Interactive UI pages</a:t>
            </a:r>
          </a:p>
          <a:p>
            <a:pPr>
              <a:spcAft>
                <a:spcPts val="600"/>
              </a:spcAft>
              <a:defRPr sz="800">
                <a:solidFill>
                  <a:srgbClr val="B4BBC6"/>
                </a:solidFill>
                <a:latin typeface="Segoe UI"/>
              </a:defRPr>
            </a:pPr>
            <a:r>
              <a:t>• Chart.js charts</a:t>
            </a:r>
          </a:p>
          <a:p>
            <a:pPr>
              <a:spcAft>
                <a:spcPts val="600"/>
              </a:spcAft>
              <a:defRPr sz="800">
                <a:solidFill>
                  <a:srgbClr val="B4BBC6"/>
                </a:solidFill>
                <a:latin typeface="Segoe UI"/>
              </a:defRPr>
            </a:pPr>
            <a:r>
              <a:t>• Fetch API requests</a:t>
            </a:r>
          </a:p>
          <a:p>
            <a:pPr>
              <a:spcAft>
                <a:spcPts val="600"/>
              </a:spcAft>
              <a:defRPr sz="800">
                <a:solidFill>
                  <a:srgbClr val="B4BBC6"/>
                </a:solidFill>
                <a:latin typeface="Segoe UI"/>
              </a:defRPr>
            </a:pPr>
            <a:r>
              <a:t>• Explainable verdicts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091690" y="2743200"/>
            <a:ext cx="137160" cy="137160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263139" y="1234440"/>
            <a:ext cx="1371600" cy="3291839"/>
          </a:xfrm>
          <a:prstGeom prst="roundRect">
            <a:avLst/>
          </a:prstGeom>
          <a:solidFill>
            <a:srgbClr val="14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45435" y="1371600"/>
            <a:ext cx="1207008" cy="30175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2. BACKEND</a:t>
            </a:r>
          </a:p>
          <a:p>
            <a:pPr>
              <a:spcAft>
                <a:spcPts val="1500"/>
              </a:spcAft>
              <a:defRPr sz="950" i="1">
                <a:solidFill>
                  <a:srgbClr val="B4BBC6"/>
                </a:solidFill>
                <a:latin typeface="Segoe UI"/>
              </a:defRPr>
            </a:pPr>
            <a:r>
              <a:t>FastAPI Service</a:t>
            </a:r>
          </a:p>
          <a:p>
            <a:pPr>
              <a:spcAft>
                <a:spcPts val="600"/>
              </a:spcAft>
              <a:defRPr sz="800">
                <a:solidFill>
                  <a:srgbClr val="B4BBC6"/>
                </a:solidFill>
                <a:latin typeface="Segoe UI"/>
              </a:defRPr>
            </a:pPr>
            <a:r>
              <a:t>• REST API endpoints</a:t>
            </a:r>
          </a:p>
          <a:p>
            <a:pPr>
              <a:spcAft>
                <a:spcPts val="600"/>
              </a:spcAft>
              <a:defRPr sz="800">
                <a:solidFill>
                  <a:srgbClr val="B4BBC6"/>
                </a:solidFill>
                <a:latin typeface="Segoe UI"/>
              </a:defRPr>
            </a:pPr>
            <a:r>
              <a:t>• CORS enabled</a:t>
            </a:r>
          </a:p>
          <a:p>
            <a:pPr>
              <a:spcAft>
                <a:spcPts val="600"/>
              </a:spcAft>
              <a:defRPr sz="800">
                <a:solidFill>
                  <a:srgbClr val="B4BBC6"/>
                </a:solidFill>
                <a:latin typeface="Segoe UI"/>
              </a:defRPr>
            </a:pPr>
            <a:r>
              <a:t>• Wait simulator logic</a:t>
            </a:r>
          </a:p>
          <a:p>
            <a:pPr>
              <a:spcAft>
                <a:spcPts val="600"/>
              </a:spcAft>
              <a:defRPr sz="800">
                <a:solidFill>
                  <a:srgbClr val="B4BBC6"/>
                </a:solidFill>
                <a:latin typeface="Segoe UI"/>
              </a:defRPr>
            </a:pPr>
            <a:r>
              <a:t>• Local SQLite endpoints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669029" y="2743200"/>
            <a:ext cx="137160" cy="137160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840479" y="1234440"/>
            <a:ext cx="1371600" cy="3291839"/>
          </a:xfrm>
          <a:prstGeom prst="roundRect">
            <a:avLst/>
          </a:prstGeom>
          <a:solidFill>
            <a:srgbClr val="14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22775" y="1371600"/>
            <a:ext cx="1207008" cy="30175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3. DATA LAYER</a:t>
            </a:r>
          </a:p>
          <a:p>
            <a:pPr>
              <a:spcAft>
                <a:spcPts val="1500"/>
              </a:spcAft>
              <a:defRPr sz="950" i="1">
                <a:solidFill>
                  <a:srgbClr val="B4BBC6"/>
                </a:solidFill>
                <a:latin typeface="Segoe UI"/>
              </a:defRPr>
            </a:pPr>
            <a:r>
              <a:t>Price Database</a:t>
            </a:r>
          </a:p>
          <a:p>
            <a:pPr>
              <a:spcAft>
                <a:spcPts val="600"/>
              </a:spcAft>
              <a:defRPr sz="800">
                <a:solidFill>
                  <a:srgbClr val="B4BBC6"/>
                </a:solidFill>
                <a:latin typeface="Segoe UI"/>
              </a:defRPr>
            </a:pPr>
            <a:r>
              <a:t>• Prepared dataset</a:t>
            </a:r>
          </a:p>
          <a:p>
            <a:pPr>
              <a:spcAft>
                <a:spcPts val="600"/>
              </a:spcAft>
              <a:defRPr sz="800">
                <a:solidFill>
                  <a:srgbClr val="B4BBC6"/>
                </a:solidFill>
                <a:latin typeface="Segoe UI"/>
              </a:defRPr>
            </a:pPr>
            <a:r>
              <a:t>• SQLite database</a:t>
            </a:r>
          </a:p>
          <a:p>
            <a:pPr>
              <a:spcAft>
                <a:spcPts val="600"/>
              </a:spcAft>
              <a:defRPr sz="800">
                <a:solidFill>
                  <a:srgbClr val="B4BBC6"/>
                </a:solidFill>
                <a:latin typeface="Segoe UI"/>
              </a:defRPr>
            </a:pPr>
            <a:r>
              <a:t>• PostgreSQL support</a:t>
            </a:r>
          </a:p>
          <a:p>
            <a:pPr>
              <a:spcAft>
                <a:spcPts val="600"/>
              </a:spcAft>
              <a:defRPr sz="800">
                <a:solidFill>
                  <a:srgbClr val="B4BBC6"/>
                </a:solidFill>
                <a:latin typeface="Segoe UI"/>
              </a:defRPr>
            </a:pPr>
            <a:r>
              <a:t>• Product meta index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246369" y="2743200"/>
            <a:ext cx="137160" cy="137160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417820" y="1234440"/>
            <a:ext cx="1371600" cy="3291839"/>
          </a:xfrm>
          <a:prstGeom prst="roundRect">
            <a:avLst/>
          </a:prstGeom>
          <a:solidFill>
            <a:srgbClr val="141E30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00116" y="1371600"/>
            <a:ext cx="1207008" cy="30175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F59E0B"/>
                </a:solidFill>
                <a:latin typeface="Segoe UI"/>
              </a:defRPr>
            </a:pPr>
            <a:r>
              <a:t>4. ML CORE</a:t>
            </a:r>
          </a:p>
          <a:p>
            <a:pPr>
              <a:spcAft>
                <a:spcPts val="1500"/>
              </a:spcAft>
              <a:defRPr sz="950" i="1">
                <a:solidFill>
                  <a:srgbClr val="B4BBC6"/>
                </a:solidFill>
                <a:latin typeface="Segoe UI"/>
              </a:defRPr>
            </a:pPr>
            <a:r>
              <a:t>XGBoost Engine</a:t>
            </a:r>
          </a:p>
          <a:p>
            <a:pPr>
              <a:spcAft>
                <a:spcPts val="600"/>
              </a:spcAft>
              <a:defRPr sz="800">
                <a:solidFill>
                  <a:srgbClr val="B4BBC6"/>
                </a:solidFill>
                <a:latin typeface="Segoe UI"/>
              </a:defRPr>
            </a:pPr>
            <a:r>
              <a:t>• XGBoost regressor</a:t>
            </a:r>
          </a:p>
          <a:p>
            <a:pPr>
              <a:spcAft>
                <a:spcPts val="600"/>
              </a:spcAft>
              <a:defRPr sz="800">
                <a:solidFill>
                  <a:srgbClr val="B4BBC6"/>
                </a:solidFill>
                <a:latin typeface="Segoe UI"/>
              </a:defRPr>
            </a:pPr>
            <a:r>
              <a:t>• Time feature builder</a:t>
            </a:r>
          </a:p>
          <a:p>
            <a:pPr>
              <a:spcAft>
                <a:spcPts val="600"/>
              </a:spcAft>
              <a:defRPr sz="800">
                <a:solidFill>
                  <a:srgbClr val="B4BBC6"/>
                </a:solidFill>
                <a:latin typeface="Segoe UI"/>
              </a:defRPr>
            </a:pPr>
            <a:r>
              <a:t>• Lag engineering</a:t>
            </a:r>
          </a:p>
          <a:p>
            <a:pPr>
              <a:spcAft>
                <a:spcPts val="600"/>
              </a:spcAft>
              <a:defRPr sz="800">
                <a:solidFill>
                  <a:srgbClr val="B4BBC6"/>
                </a:solidFill>
                <a:latin typeface="Segoe UI"/>
              </a:defRPr>
            </a:pPr>
            <a:r>
              <a:t>• Quantile residuals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6823710" y="2743200"/>
            <a:ext cx="137160" cy="137160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995159" y="1234440"/>
            <a:ext cx="1371600" cy="3291839"/>
          </a:xfrm>
          <a:prstGeom prst="roundRect">
            <a:avLst/>
          </a:prstGeom>
          <a:solidFill>
            <a:srgbClr val="14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77455" y="1371600"/>
            <a:ext cx="1207008" cy="30175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5. ALERTS</a:t>
            </a:r>
          </a:p>
          <a:p>
            <a:pPr>
              <a:spcAft>
                <a:spcPts val="1500"/>
              </a:spcAft>
              <a:defRPr sz="950" i="1">
                <a:solidFill>
                  <a:srgbClr val="B4BBC6"/>
                </a:solidFill>
                <a:latin typeface="Segoe UI"/>
              </a:defRPr>
            </a:pPr>
            <a:r>
              <a:t>Fetch Checker</a:t>
            </a:r>
          </a:p>
          <a:p>
            <a:pPr>
              <a:spcAft>
                <a:spcPts val="600"/>
              </a:spcAft>
              <a:defRPr sz="800">
                <a:solidFill>
                  <a:srgbClr val="B4BBC6"/>
                </a:solidFill>
                <a:latin typeface="Segoe UI"/>
              </a:defRPr>
            </a:pPr>
            <a:r>
              <a:t>• Target price storage</a:t>
            </a:r>
          </a:p>
          <a:p>
            <a:pPr>
              <a:spcAft>
                <a:spcPts val="600"/>
              </a:spcAft>
              <a:defRPr sz="800">
                <a:solidFill>
                  <a:srgbClr val="B4BBC6"/>
                </a:solidFill>
                <a:latin typeface="Segoe UI"/>
              </a:defRPr>
            </a:pPr>
            <a:r>
              <a:t>• Checked on fetch</a:t>
            </a:r>
          </a:p>
          <a:p>
            <a:pPr>
              <a:spcAft>
                <a:spcPts val="600"/>
              </a:spcAft>
              <a:defRPr sz="800">
                <a:solidFill>
                  <a:srgbClr val="B4BBC6"/>
                </a:solidFill>
                <a:latin typeface="Segoe UI"/>
              </a:defRPr>
            </a:pPr>
            <a:r>
              <a:t>• No background cron</a:t>
            </a:r>
          </a:p>
          <a:p>
            <a:pPr>
              <a:spcAft>
                <a:spcPts val="600"/>
              </a:spcAft>
              <a:defRPr sz="800">
                <a:solidFill>
                  <a:srgbClr val="B4BBC6"/>
                </a:solidFill>
                <a:latin typeface="Segoe UI"/>
              </a:defRPr>
            </a:pPr>
            <a:r>
              <a:t>• Threshold alerts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5144770"/>
            <a:chOff x="0" y="0"/>
            <a:chExt cx="9144000" cy="51447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51435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40035" y="853678"/>
              <a:ext cx="7864475" cy="0"/>
            </a:xfrm>
            <a:custGeom>
              <a:avLst/>
              <a:gdLst/>
              <a:ahLst/>
              <a:cxnLst/>
              <a:rect l="l" t="t" r="r" b="b"/>
              <a:pathLst>
                <a:path w="7864475" h="0">
                  <a:moveTo>
                    <a:pt x="0" y="0"/>
                  </a:moveTo>
                  <a:lnTo>
                    <a:pt x="857249" y="0"/>
                  </a:lnTo>
                </a:path>
                <a:path w="7864475" h="0">
                  <a:moveTo>
                    <a:pt x="7006679" y="0"/>
                  </a:moveTo>
                  <a:lnTo>
                    <a:pt x="7863929" y="0"/>
                  </a:lnTo>
                </a:path>
              </a:pathLst>
            </a:custGeom>
            <a:ln w="9524">
              <a:solidFill>
                <a:srgbClr val="00B4D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342900" y="1000125"/>
              <a:ext cx="8458200" cy="3872229"/>
            </a:xfrm>
            <a:custGeom>
              <a:avLst/>
              <a:gdLst/>
              <a:ahLst/>
              <a:cxnLst/>
              <a:rect l="l" t="t" r="r" b="b"/>
              <a:pathLst>
                <a:path w="8458200" h="3872229">
                  <a:moveTo>
                    <a:pt x="0" y="7143"/>
                  </a:moveTo>
                  <a:lnTo>
                    <a:pt x="428624" y="7143"/>
                  </a:lnTo>
                </a:path>
                <a:path w="8458200" h="3872229">
                  <a:moveTo>
                    <a:pt x="7143" y="0"/>
                  </a:moveTo>
                  <a:lnTo>
                    <a:pt x="7143" y="428624"/>
                  </a:lnTo>
                </a:path>
                <a:path w="8458200" h="3872229">
                  <a:moveTo>
                    <a:pt x="8029574" y="7143"/>
                  </a:moveTo>
                  <a:lnTo>
                    <a:pt x="8458199" y="7143"/>
                  </a:lnTo>
                </a:path>
                <a:path w="8458200" h="3872229">
                  <a:moveTo>
                    <a:pt x="8451056" y="0"/>
                  </a:moveTo>
                  <a:lnTo>
                    <a:pt x="8451056" y="428624"/>
                  </a:lnTo>
                </a:path>
                <a:path w="8458200" h="3872229">
                  <a:moveTo>
                    <a:pt x="0" y="3864769"/>
                  </a:moveTo>
                  <a:lnTo>
                    <a:pt x="428624" y="3864769"/>
                  </a:lnTo>
                </a:path>
                <a:path w="8458200" h="3872229">
                  <a:moveTo>
                    <a:pt x="7143" y="3443287"/>
                  </a:moveTo>
                  <a:lnTo>
                    <a:pt x="7143" y="3871912"/>
                  </a:lnTo>
                </a:path>
                <a:path w="8458200" h="3872229">
                  <a:moveTo>
                    <a:pt x="8451056" y="3443287"/>
                  </a:moveTo>
                  <a:lnTo>
                    <a:pt x="8451056" y="3871912"/>
                  </a:lnTo>
                </a:path>
                <a:path w="8458200" h="3872229">
                  <a:moveTo>
                    <a:pt x="8029574" y="3864769"/>
                  </a:moveTo>
                  <a:lnTo>
                    <a:pt x="8458199" y="3864769"/>
                  </a:lnTo>
                </a:path>
              </a:pathLst>
            </a:custGeom>
            <a:ln w="14274">
              <a:solidFill>
                <a:srgbClr val="C9A84C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4400" y="0"/>
              <a:ext cx="42862" cy="514349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80070" y="0"/>
              <a:ext cx="28574" cy="514349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186738" y="0"/>
              <a:ext cx="42862" cy="514349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835354" y="0"/>
              <a:ext cx="28574" cy="514349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036219" y="4679156"/>
              <a:ext cx="1071562" cy="25003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857625" y="4893469"/>
              <a:ext cx="1428749" cy="25003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3861196" y="4897041"/>
              <a:ext cx="1421765" cy="243204"/>
            </a:xfrm>
            <a:custGeom>
              <a:avLst/>
              <a:gdLst/>
              <a:ahLst/>
              <a:cxnLst/>
              <a:rect l="l" t="t" r="r" b="b"/>
              <a:pathLst>
                <a:path w="1421764" h="243204">
                  <a:moveTo>
                    <a:pt x="0" y="0"/>
                  </a:moveTo>
                  <a:lnTo>
                    <a:pt x="1421605" y="0"/>
                  </a:lnTo>
                  <a:lnTo>
                    <a:pt x="1421605" y="242887"/>
                  </a:lnTo>
                  <a:lnTo>
                    <a:pt x="0" y="242887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B4DC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0" y="0"/>
              <a:ext cx="9144000" cy="514350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0" y="4572000"/>
              <a:ext cx="9143999" cy="571499"/>
            </a:xfrm>
            <a:prstGeom prst="rect">
              <a:avLst/>
            </a:prstGeom>
          </p:spPr>
        </p:pic>
      </p:grpSp>
      <p:grpSp>
        <p:nvGrpSpPr>
          <p:cNvPr id="15" name="object 15"/>
          <p:cNvGrpSpPr/>
          <p:nvPr/>
        </p:nvGrpSpPr>
        <p:grpSpPr>
          <a:xfrm>
            <a:off x="427434" y="1070371"/>
            <a:ext cx="8289290" cy="3717290"/>
            <a:chOff x="427434" y="1070371"/>
            <a:chExt cx="8289290" cy="3717290"/>
          </a:xfrm>
        </p:grpSpPr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28625" y="1071563"/>
              <a:ext cx="8286749" cy="3714749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432197" y="1075133"/>
              <a:ext cx="8279765" cy="3707765"/>
            </a:xfrm>
            <a:custGeom>
              <a:avLst/>
              <a:gdLst/>
              <a:ahLst/>
              <a:cxnLst/>
              <a:rect l="l" t="t" r="r" b="b"/>
              <a:pathLst>
                <a:path w="8279765" h="3707765">
                  <a:moveTo>
                    <a:pt x="0" y="114305"/>
                  </a:moveTo>
                  <a:lnTo>
                    <a:pt x="8982" y="69812"/>
                  </a:lnTo>
                  <a:lnTo>
                    <a:pt x="33479" y="33479"/>
                  </a:lnTo>
                  <a:lnTo>
                    <a:pt x="69812" y="8982"/>
                  </a:lnTo>
                  <a:lnTo>
                    <a:pt x="114305" y="0"/>
                  </a:lnTo>
                  <a:lnTo>
                    <a:pt x="8165300" y="0"/>
                  </a:lnTo>
                  <a:lnTo>
                    <a:pt x="8209043" y="8700"/>
                  </a:lnTo>
                  <a:lnTo>
                    <a:pt x="8246126" y="33479"/>
                  </a:lnTo>
                  <a:lnTo>
                    <a:pt x="8270904" y="70562"/>
                  </a:lnTo>
                  <a:lnTo>
                    <a:pt x="8279605" y="114305"/>
                  </a:lnTo>
                  <a:lnTo>
                    <a:pt x="8279605" y="3593300"/>
                  </a:lnTo>
                  <a:lnTo>
                    <a:pt x="8270623" y="3637793"/>
                  </a:lnTo>
                  <a:lnTo>
                    <a:pt x="8246126" y="3674126"/>
                  </a:lnTo>
                  <a:lnTo>
                    <a:pt x="8209793" y="3698623"/>
                  </a:lnTo>
                  <a:lnTo>
                    <a:pt x="8165300" y="3707605"/>
                  </a:lnTo>
                  <a:lnTo>
                    <a:pt x="114305" y="3707605"/>
                  </a:lnTo>
                  <a:lnTo>
                    <a:pt x="69812" y="3698623"/>
                  </a:lnTo>
                  <a:lnTo>
                    <a:pt x="33479" y="3674126"/>
                  </a:lnTo>
                  <a:lnTo>
                    <a:pt x="8982" y="3637793"/>
                  </a:lnTo>
                  <a:lnTo>
                    <a:pt x="0" y="3593300"/>
                  </a:lnTo>
                  <a:lnTo>
                    <a:pt x="0" y="114305"/>
                  </a:lnTo>
                  <a:close/>
                </a:path>
              </a:pathLst>
            </a:custGeom>
            <a:ln w="9524">
              <a:solidFill>
                <a:srgbClr val="3ECECE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097459" y="1522735"/>
              <a:ext cx="7143" cy="2775346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255639" y="2003822"/>
              <a:ext cx="7143" cy="2035186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579242" y="1744749"/>
              <a:ext cx="7143" cy="240521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737422" y="1374725"/>
              <a:ext cx="7143" cy="2960302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061025" y="2188778"/>
              <a:ext cx="7144" cy="185023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219094" y="1633686"/>
              <a:ext cx="7144" cy="2590278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8129141" y="1818754"/>
              <a:ext cx="7144" cy="2220254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236589" y="2784971"/>
              <a:ext cx="66675" cy="66675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255639" y="2854820"/>
              <a:ext cx="28575" cy="28575"/>
            </a:xfrm>
            <a:custGeom>
              <a:avLst/>
              <a:gdLst/>
              <a:ahLst/>
              <a:cxnLst/>
              <a:rect l="l" t="t" r="r" b="b"/>
              <a:pathLst>
                <a:path w="28575" h="28575">
                  <a:moveTo>
                    <a:pt x="22178" y="28574"/>
                  </a:moveTo>
                  <a:lnTo>
                    <a:pt x="6396" y="28574"/>
                  </a:lnTo>
                  <a:lnTo>
                    <a:pt x="0" y="22178"/>
                  </a:lnTo>
                  <a:lnTo>
                    <a:pt x="0" y="14287"/>
                  </a:lnTo>
                  <a:lnTo>
                    <a:pt x="0" y="6396"/>
                  </a:lnTo>
                  <a:lnTo>
                    <a:pt x="6396" y="0"/>
                  </a:lnTo>
                  <a:lnTo>
                    <a:pt x="18076" y="0"/>
                  </a:lnTo>
                  <a:lnTo>
                    <a:pt x="21710" y="1505"/>
                  </a:lnTo>
                  <a:lnTo>
                    <a:pt x="27069" y="6864"/>
                  </a:lnTo>
                  <a:lnTo>
                    <a:pt x="28574" y="10498"/>
                  </a:lnTo>
                  <a:lnTo>
                    <a:pt x="28574" y="22178"/>
                  </a:lnTo>
                  <a:lnTo>
                    <a:pt x="22178" y="28574"/>
                  </a:lnTo>
                  <a:close/>
                </a:path>
              </a:pathLst>
            </a:custGeom>
            <a:solidFill>
              <a:srgbClr val="3ECECE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718372" y="2303996"/>
              <a:ext cx="66675" cy="66675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4737421" y="2373845"/>
              <a:ext cx="28575" cy="28575"/>
            </a:xfrm>
            <a:custGeom>
              <a:avLst/>
              <a:gdLst/>
              <a:ahLst/>
              <a:cxnLst/>
              <a:rect l="l" t="t" r="r" b="b"/>
              <a:pathLst>
                <a:path w="28575" h="28575">
                  <a:moveTo>
                    <a:pt x="22178" y="28574"/>
                  </a:moveTo>
                  <a:lnTo>
                    <a:pt x="6396" y="28574"/>
                  </a:lnTo>
                  <a:lnTo>
                    <a:pt x="0" y="22178"/>
                  </a:lnTo>
                  <a:lnTo>
                    <a:pt x="0" y="14287"/>
                  </a:lnTo>
                  <a:lnTo>
                    <a:pt x="0" y="6396"/>
                  </a:lnTo>
                  <a:lnTo>
                    <a:pt x="6396" y="0"/>
                  </a:lnTo>
                  <a:lnTo>
                    <a:pt x="18076" y="0"/>
                  </a:lnTo>
                  <a:lnTo>
                    <a:pt x="21710" y="1505"/>
                  </a:lnTo>
                  <a:lnTo>
                    <a:pt x="27069" y="6864"/>
                  </a:lnTo>
                  <a:lnTo>
                    <a:pt x="28574" y="10498"/>
                  </a:lnTo>
                  <a:lnTo>
                    <a:pt x="28574" y="22178"/>
                  </a:lnTo>
                  <a:lnTo>
                    <a:pt x="22178" y="28574"/>
                  </a:lnTo>
                  <a:close/>
                </a:path>
              </a:pathLst>
            </a:custGeom>
            <a:solidFill>
              <a:srgbClr val="3ECECE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9" name="object 29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041975" y="2933092"/>
              <a:ext cx="66675" cy="66675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6061025" y="3002941"/>
              <a:ext cx="28575" cy="28575"/>
            </a:xfrm>
            <a:custGeom>
              <a:avLst/>
              <a:gdLst/>
              <a:ahLst/>
              <a:cxnLst/>
              <a:rect l="l" t="t" r="r" b="b"/>
              <a:pathLst>
                <a:path w="28575" h="28575">
                  <a:moveTo>
                    <a:pt x="22177" y="28574"/>
                  </a:moveTo>
                  <a:lnTo>
                    <a:pt x="6396" y="28574"/>
                  </a:lnTo>
                  <a:lnTo>
                    <a:pt x="0" y="22178"/>
                  </a:lnTo>
                  <a:lnTo>
                    <a:pt x="0" y="14287"/>
                  </a:lnTo>
                  <a:lnTo>
                    <a:pt x="0" y="6396"/>
                  </a:lnTo>
                  <a:lnTo>
                    <a:pt x="6396" y="0"/>
                  </a:lnTo>
                  <a:lnTo>
                    <a:pt x="18076" y="0"/>
                  </a:lnTo>
                  <a:lnTo>
                    <a:pt x="21710" y="1505"/>
                  </a:lnTo>
                  <a:lnTo>
                    <a:pt x="27069" y="6863"/>
                  </a:lnTo>
                  <a:lnTo>
                    <a:pt x="28574" y="10498"/>
                  </a:lnTo>
                  <a:lnTo>
                    <a:pt x="28574" y="22178"/>
                  </a:lnTo>
                  <a:lnTo>
                    <a:pt x="22177" y="28574"/>
                  </a:lnTo>
                  <a:close/>
                </a:path>
              </a:pathLst>
            </a:custGeom>
            <a:solidFill>
              <a:srgbClr val="3ECECE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1" name="object 31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078409" y="3303116"/>
              <a:ext cx="66675" cy="66675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097459" y="3372966"/>
              <a:ext cx="28575" cy="28575"/>
            </a:xfrm>
            <a:custGeom>
              <a:avLst/>
              <a:gdLst/>
              <a:ahLst/>
              <a:cxnLst/>
              <a:rect l="l" t="t" r="r" b="b"/>
              <a:pathLst>
                <a:path w="28575" h="28575">
                  <a:moveTo>
                    <a:pt x="22178" y="28574"/>
                  </a:moveTo>
                  <a:lnTo>
                    <a:pt x="6396" y="28574"/>
                  </a:lnTo>
                  <a:lnTo>
                    <a:pt x="0" y="22178"/>
                  </a:lnTo>
                  <a:lnTo>
                    <a:pt x="0" y="14287"/>
                  </a:lnTo>
                  <a:lnTo>
                    <a:pt x="0" y="6396"/>
                  </a:lnTo>
                  <a:lnTo>
                    <a:pt x="6396" y="0"/>
                  </a:lnTo>
                  <a:lnTo>
                    <a:pt x="18076" y="0"/>
                  </a:lnTo>
                  <a:lnTo>
                    <a:pt x="21710" y="1504"/>
                  </a:lnTo>
                  <a:lnTo>
                    <a:pt x="27069" y="6863"/>
                  </a:lnTo>
                  <a:lnTo>
                    <a:pt x="28574" y="10497"/>
                  </a:lnTo>
                  <a:lnTo>
                    <a:pt x="28574" y="22178"/>
                  </a:lnTo>
                  <a:lnTo>
                    <a:pt x="22178" y="28574"/>
                  </a:lnTo>
                  <a:close/>
                </a:path>
              </a:pathLst>
            </a:custGeom>
            <a:solidFill>
              <a:srgbClr val="3ECECE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3" name="object 33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7200044" y="2488952"/>
              <a:ext cx="66675" cy="66675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7219093" y="2558801"/>
              <a:ext cx="28575" cy="28575"/>
            </a:xfrm>
            <a:custGeom>
              <a:avLst/>
              <a:gdLst/>
              <a:ahLst/>
              <a:cxnLst/>
              <a:rect l="l" t="t" r="r" b="b"/>
              <a:pathLst>
                <a:path w="28575" h="28575">
                  <a:moveTo>
                    <a:pt x="22178" y="28574"/>
                  </a:moveTo>
                  <a:lnTo>
                    <a:pt x="6396" y="28574"/>
                  </a:lnTo>
                  <a:lnTo>
                    <a:pt x="0" y="22178"/>
                  </a:lnTo>
                  <a:lnTo>
                    <a:pt x="0" y="14287"/>
                  </a:lnTo>
                  <a:lnTo>
                    <a:pt x="0" y="6396"/>
                  </a:lnTo>
                  <a:lnTo>
                    <a:pt x="6396" y="0"/>
                  </a:lnTo>
                  <a:lnTo>
                    <a:pt x="18077" y="0"/>
                  </a:lnTo>
                  <a:lnTo>
                    <a:pt x="21711" y="1505"/>
                  </a:lnTo>
                  <a:lnTo>
                    <a:pt x="27070" y="6864"/>
                  </a:lnTo>
                  <a:lnTo>
                    <a:pt x="28574" y="10498"/>
                  </a:lnTo>
                  <a:lnTo>
                    <a:pt x="28574" y="22178"/>
                  </a:lnTo>
                  <a:lnTo>
                    <a:pt x="22178" y="28574"/>
                  </a:lnTo>
                  <a:close/>
                </a:path>
              </a:pathLst>
            </a:custGeom>
            <a:solidFill>
              <a:srgbClr val="3ECECE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5" name="object 35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560192" y="3044044"/>
              <a:ext cx="66675" cy="66675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3579242" y="3113894"/>
              <a:ext cx="28575" cy="28575"/>
            </a:xfrm>
            <a:custGeom>
              <a:avLst/>
              <a:gdLst/>
              <a:ahLst/>
              <a:cxnLst/>
              <a:rect l="l" t="t" r="r" b="b"/>
              <a:pathLst>
                <a:path w="28575" h="28575">
                  <a:moveTo>
                    <a:pt x="22177" y="28574"/>
                  </a:moveTo>
                  <a:lnTo>
                    <a:pt x="6396" y="28574"/>
                  </a:lnTo>
                  <a:lnTo>
                    <a:pt x="0" y="22178"/>
                  </a:lnTo>
                  <a:lnTo>
                    <a:pt x="0" y="14287"/>
                  </a:lnTo>
                  <a:lnTo>
                    <a:pt x="0" y="6396"/>
                  </a:lnTo>
                  <a:lnTo>
                    <a:pt x="6396" y="0"/>
                  </a:lnTo>
                  <a:lnTo>
                    <a:pt x="18076" y="0"/>
                  </a:lnTo>
                  <a:lnTo>
                    <a:pt x="21710" y="1505"/>
                  </a:lnTo>
                  <a:lnTo>
                    <a:pt x="27069" y="6864"/>
                  </a:lnTo>
                  <a:lnTo>
                    <a:pt x="28574" y="10498"/>
                  </a:lnTo>
                  <a:lnTo>
                    <a:pt x="28574" y="22178"/>
                  </a:lnTo>
                  <a:lnTo>
                    <a:pt x="22177" y="28574"/>
                  </a:lnTo>
                  <a:close/>
                </a:path>
              </a:pathLst>
            </a:custGeom>
            <a:solidFill>
              <a:srgbClr val="3ECECE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8" name="object 38"/>
          <p:cNvGrpSpPr/>
          <p:nvPr/>
        </p:nvGrpSpPr>
        <p:grpSpPr>
          <a:xfrm>
            <a:off x="2594781" y="513555"/>
            <a:ext cx="3954779" cy="516890"/>
            <a:chOff x="2594781" y="513555"/>
            <a:chExt cx="3954779" cy="516890"/>
          </a:xfrm>
        </p:grpSpPr>
        <p:pic>
          <p:nvPicPr>
            <p:cNvPr id="39" name="object 39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2595972" y="571500"/>
              <a:ext cx="3952055" cy="457199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2599544" y="575071"/>
              <a:ext cx="3945254" cy="450215"/>
            </a:xfrm>
            <a:custGeom>
              <a:avLst/>
              <a:gdLst/>
              <a:ahLst/>
              <a:cxnLst/>
              <a:rect l="l" t="t" r="r" b="b"/>
              <a:pathLst>
                <a:path w="3945254" h="450215">
                  <a:moveTo>
                    <a:pt x="0" y="76198"/>
                  </a:moveTo>
                  <a:lnTo>
                    <a:pt x="5988" y="46538"/>
                  </a:lnTo>
                  <a:lnTo>
                    <a:pt x="22318" y="22318"/>
                  </a:lnTo>
                  <a:lnTo>
                    <a:pt x="46538" y="5988"/>
                  </a:lnTo>
                  <a:lnTo>
                    <a:pt x="76198" y="0"/>
                  </a:lnTo>
                  <a:lnTo>
                    <a:pt x="3868714" y="0"/>
                  </a:lnTo>
                  <a:lnTo>
                    <a:pt x="3910989" y="12802"/>
                  </a:lnTo>
                  <a:lnTo>
                    <a:pt x="3939112" y="47038"/>
                  </a:lnTo>
                  <a:lnTo>
                    <a:pt x="3944912" y="76198"/>
                  </a:lnTo>
                  <a:lnTo>
                    <a:pt x="3944912" y="373856"/>
                  </a:lnTo>
                  <a:lnTo>
                    <a:pt x="3938924" y="403517"/>
                  </a:lnTo>
                  <a:lnTo>
                    <a:pt x="3922594" y="427737"/>
                  </a:lnTo>
                  <a:lnTo>
                    <a:pt x="3898374" y="444067"/>
                  </a:lnTo>
                  <a:lnTo>
                    <a:pt x="3868714" y="450055"/>
                  </a:lnTo>
                  <a:lnTo>
                    <a:pt x="76198" y="450055"/>
                  </a:lnTo>
                  <a:lnTo>
                    <a:pt x="46538" y="444067"/>
                  </a:lnTo>
                  <a:lnTo>
                    <a:pt x="22318" y="427737"/>
                  </a:lnTo>
                  <a:lnTo>
                    <a:pt x="5988" y="403517"/>
                  </a:lnTo>
                  <a:lnTo>
                    <a:pt x="0" y="373856"/>
                  </a:lnTo>
                  <a:lnTo>
                    <a:pt x="0" y="76198"/>
                  </a:lnTo>
                  <a:close/>
                </a:path>
              </a:pathLst>
            </a:custGeom>
            <a:ln w="9524">
              <a:solidFill>
                <a:srgbClr val="C9A84C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1" name="object 41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2888866" y="513555"/>
              <a:ext cx="3366269" cy="485851"/>
            </a:xfrm>
            <a:prstGeom prst="rect">
              <a:avLst/>
            </a:prstGeom>
          </p:spPr>
        </p:pic>
      </p:grpSp>
      <p:sp>
        <p:nvSpPr>
          <p:cNvPr id="42" name="object 42"/>
          <p:cNvSpPr txBox="1"/>
          <p:nvPr/>
        </p:nvSpPr>
        <p:spPr>
          <a:xfrm>
            <a:off x="3303146" y="657380"/>
            <a:ext cx="2536825" cy="2832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b="1">
                <a:solidFill>
                  <a:srgbClr val="FFFFFF"/>
                </a:solidFill>
                <a:latin typeface="Arial"/>
                <a:cs typeface="Arial"/>
              </a:rPr>
              <a:t>TECHNICAL</a:t>
            </a:r>
            <a:r>
              <a:rPr dirty="0" sz="1650" spc="6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50" spc="-10" b="1">
                <a:solidFill>
                  <a:srgbClr val="FFFFFF"/>
                </a:solidFill>
                <a:latin typeface="Arial"/>
                <a:cs typeface="Arial"/>
              </a:rPr>
              <a:t>APPROACH</a:t>
            </a:r>
            <a:endParaRPr sz="1650">
              <a:latin typeface="Arial"/>
              <a:cs typeface="Arial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158462" y="126113"/>
            <a:ext cx="8904605" cy="756285"/>
            <a:chOff x="158462" y="126113"/>
            <a:chExt cx="8904605" cy="756285"/>
          </a:xfrm>
        </p:grpSpPr>
        <p:pic>
          <p:nvPicPr>
            <p:cNvPr id="44" name="object 44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58462" y="126113"/>
              <a:ext cx="755925" cy="755924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8325450" y="135563"/>
              <a:ext cx="737002" cy="737024"/>
            </a:xfrm>
            <a:prstGeom prst="rect">
              <a:avLst/>
            </a:prstGeom>
          </p:spPr>
        </p:pic>
      </p:grpSp>
      <p:sp>
        <p:nvSpPr>
          <p:cNvPr id="46" name="Rounded Rectangle 45"/>
          <p:cNvSpPr/>
          <p:nvPr/>
        </p:nvSpPr>
        <p:spPr>
          <a:xfrm>
            <a:off x="685800" y="1234440"/>
            <a:ext cx="3566160" cy="3291839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91540" y="1440180"/>
            <a:ext cx="3154679" cy="2880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F59E0B"/>
                </a:solidFill>
                <a:latin typeface="Segoe UI"/>
              </a:defRPr>
            </a:pPr>
            <a:r>
              <a:t>FORECASTING ENGINE &amp; ML PIPELINE</a:t>
            </a:r>
          </a:p>
          <a:p>
            <a:pPr>
              <a:spcAft>
                <a:spcPts val="20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Model Pipeline</a:t>
            </a:r>
          </a:p>
          <a:p>
            <a:pPr>
              <a:spcAft>
                <a:spcPts val="1000"/>
              </a:spcAft>
              <a:defRPr sz="950">
                <a:solidFill>
                  <a:srgbClr val="B4BBC6"/>
                </a:solidFill>
                <a:latin typeface="Segoe UI"/>
              </a:defRPr>
            </a:pPr>
            <a:r>
              <a:t>XGBoost Regressor model configured for multi-horizon forecasting (7d / 30d / 60d ahead).</a:t>
            </a:r>
          </a:p>
          <a:p>
            <a:pPr>
              <a:spcAft>
                <a:spcPts val="20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Feature Engineering</a:t>
            </a:r>
          </a:p>
          <a:p>
            <a:pPr>
              <a:spcAft>
                <a:spcPts val="1000"/>
              </a:spcAft>
              <a:defRPr sz="950">
                <a:solidFill>
                  <a:srgbClr val="B4BBC6"/>
                </a:solidFill>
                <a:latin typeface="Segoe UI"/>
              </a:defRPr>
            </a:pPr>
            <a:r>
              <a:t>Extracts lag prices (t-1, t-7, t-14, t-30), rolling mean/volatility (7, 14, 30 days), time properties, and festival-period flags.</a:t>
            </a:r>
          </a:p>
          <a:p>
            <a:pPr>
              <a:spcAft>
                <a:spcPts val="20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Validation Strategy</a:t>
            </a:r>
          </a:p>
          <a:p>
            <a:pPr>
              <a:spcAft>
                <a:spcPts val="1000"/>
              </a:spcAft>
              <a:defRPr sz="950">
                <a:solidFill>
                  <a:srgbClr val="B4BBC6"/>
                </a:solidFill>
                <a:latin typeface="Segoe UI"/>
              </a:defRPr>
            </a:pPr>
            <a:r>
              <a:t>Chronological train/test split holding out the last 60 days of historical records for out-of-sample backtesting.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91540" y="3977639"/>
            <a:ext cx="3154679" cy="342900"/>
          </a:xfrm>
          <a:prstGeom prst="roundRect">
            <a:avLst/>
          </a:prstGeom>
          <a:solidFill>
            <a:srgbClr val="141E30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60119" y="4011929"/>
            <a:ext cx="3017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59E0B"/>
                </a:solidFill>
                <a:latin typeface="Segoe UI"/>
              </a:defRPr>
            </a:pPr>
            <a:r>
              <a:t>Backtest Results (Galaxy S24): 30d MAPE: 4.07% | 60d MAPE: 1.17%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663440" y="1234440"/>
            <a:ext cx="3771900" cy="3291839"/>
          </a:xfrm>
          <a:prstGeom prst="roundRect">
            <a:avLst/>
          </a:prstGeom>
          <a:solidFill>
            <a:srgbClr val="14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869179" y="1440180"/>
            <a:ext cx="3360420" cy="2880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0EA5E9"/>
                </a:solidFill>
                <a:latin typeface="Segoe UI"/>
              </a:defRPr>
            </a:pPr>
            <a:r>
              <a:t>HONESTY BY DESIGN</a:t>
            </a:r>
          </a:p>
          <a:p>
            <a:pPr>
              <a:spcAft>
                <a:spcPts val="20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Residual-Based Confidence</a:t>
            </a:r>
          </a:p>
          <a:p>
            <a:pPr>
              <a:spcAft>
                <a:spcPts val="1000"/>
              </a:spcAft>
              <a:defRPr sz="950">
                <a:solidFill>
                  <a:srgbClr val="B4BBC6"/>
                </a:solidFill>
                <a:latin typeface="Segoe UI"/>
              </a:defRPr>
            </a:pPr>
            <a:r>
              <a:t>Confidence scores are dynamically derived from actual validation residuals, not static values.</a:t>
            </a:r>
          </a:p>
          <a:p>
            <a:pPr>
              <a:spcAft>
                <a:spcPts val="20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Probabilistic Estimates</a:t>
            </a:r>
          </a:p>
          <a:p>
            <a:pPr>
              <a:spcAft>
                <a:spcPts val="1000"/>
              </a:spcAft>
              <a:defRPr sz="950">
                <a:solidFill>
                  <a:srgbClr val="B4BBC6"/>
                </a:solidFill>
                <a:latin typeface="Segoe UI"/>
              </a:defRPr>
            </a:pPr>
            <a:r>
              <a:t>Forecasts represent predictions as a range and include a probability of price drop rather than a fixed guarantee.</a:t>
            </a:r>
          </a:p>
          <a:p>
            <a:pPr>
              <a:spcAft>
                <a:spcPts val="20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Low-Confidence Fallback</a:t>
            </a:r>
          </a:p>
          <a:p>
            <a:pPr>
              <a:spcAft>
                <a:spcPts val="1000"/>
              </a:spcAft>
              <a:defRPr sz="950">
                <a:solidFill>
                  <a:srgbClr val="B4BBC6"/>
                </a:solidFill>
                <a:latin typeface="Segoe UI"/>
              </a:defRPr>
            </a:pPr>
            <a:r>
              <a:t>System disables forced recommendation (LOW CONFIDENCE) when the validation accuracy score falls below threshold.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2594781" y="513555"/>
            <a:ext cx="3954779" cy="516890"/>
            <a:chOff x="2594781" y="513555"/>
            <a:chExt cx="3954779" cy="51689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95972" y="571500"/>
              <a:ext cx="3952055" cy="45719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599544" y="575071"/>
              <a:ext cx="3945254" cy="450215"/>
            </a:xfrm>
            <a:custGeom>
              <a:avLst/>
              <a:gdLst/>
              <a:ahLst/>
              <a:cxnLst/>
              <a:rect l="l" t="t" r="r" b="b"/>
              <a:pathLst>
                <a:path w="3945254" h="450215">
                  <a:moveTo>
                    <a:pt x="0" y="76198"/>
                  </a:moveTo>
                  <a:lnTo>
                    <a:pt x="5988" y="46538"/>
                  </a:lnTo>
                  <a:lnTo>
                    <a:pt x="22318" y="22318"/>
                  </a:lnTo>
                  <a:lnTo>
                    <a:pt x="46538" y="5988"/>
                  </a:lnTo>
                  <a:lnTo>
                    <a:pt x="76198" y="0"/>
                  </a:lnTo>
                  <a:lnTo>
                    <a:pt x="3868714" y="0"/>
                  </a:lnTo>
                  <a:lnTo>
                    <a:pt x="3910989" y="12802"/>
                  </a:lnTo>
                  <a:lnTo>
                    <a:pt x="3939112" y="47038"/>
                  </a:lnTo>
                  <a:lnTo>
                    <a:pt x="3944912" y="76198"/>
                  </a:lnTo>
                  <a:lnTo>
                    <a:pt x="3944912" y="373856"/>
                  </a:lnTo>
                  <a:lnTo>
                    <a:pt x="3938924" y="403517"/>
                  </a:lnTo>
                  <a:lnTo>
                    <a:pt x="3922594" y="427737"/>
                  </a:lnTo>
                  <a:lnTo>
                    <a:pt x="3898374" y="444067"/>
                  </a:lnTo>
                  <a:lnTo>
                    <a:pt x="3868714" y="450055"/>
                  </a:lnTo>
                  <a:lnTo>
                    <a:pt x="76198" y="450055"/>
                  </a:lnTo>
                  <a:lnTo>
                    <a:pt x="46538" y="444067"/>
                  </a:lnTo>
                  <a:lnTo>
                    <a:pt x="22318" y="427737"/>
                  </a:lnTo>
                  <a:lnTo>
                    <a:pt x="5988" y="403517"/>
                  </a:lnTo>
                  <a:lnTo>
                    <a:pt x="0" y="373856"/>
                  </a:lnTo>
                  <a:lnTo>
                    <a:pt x="0" y="76198"/>
                  </a:lnTo>
                  <a:close/>
                </a:path>
              </a:pathLst>
            </a:custGeom>
            <a:ln w="9524">
              <a:solidFill>
                <a:srgbClr val="C9A84C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88866" y="513555"/>
              <a:ext cx="3366269" cy="485851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3751602" y="657380"/>
            <a:ext cx="1639570" cy="28321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b="1">
                <a:solidFill>
                  <a:srgbClr val="FFFFFF"/>
                </a:solidFill>
                <a:latin typeface="Arial"/>
                <a:cs typeface="Arial"/>
              </a:rPr>
              <a:t>FEATURE /</a:t>
            </a:r>
            <a:r>
              <a:rPr dirty="0" sz="1650" spc="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50" spc="-25" b="1">
                <a:solidFill>
                  <a:srgbClr val="FFFFFF"/>
                </a:solidFill>
                <a:latin typeface="Arial"/>
                <a:cs typeface="Arial"/>
              </a:rPr>
              <a:t>USP</a:t>
            </a:r>
            <a:endParaRPr sz="165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58462" y="126113"/>
            <a:ext cx="8904605" cy="756285"/>
            <a:chOff x="158462" y="126113"/>
            <a:chExt cx="8904605" cy="756285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8462" y="126113"/>
              <a:ext cx="755925" cy="75592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325450" y="135563"/>
              <a:ext cx="737002" cy="737024"/>
            </a:xfrm>
            <a:prstGeom prst="rect">
              <a:avLst/>
            </a:prstGeom>
          </p:spPr>
        </p:pic>
      </p:grpSp>
      <p:sp>
        <p:nvSpPr>
          <p:cNvPr id="11" name="Rounded Rectangle 10"/>
          <p:cNvSpPr/>
          <p:nvPr/>
        </p:nvSpPr>
        <p:spPr>
          <a:xfrm>
            <a:off x="685800" y="1200150"/>
            <a:ext cx="3566160" cy="1577339"/>
          </a:xfrm>
          <a:prstGeom prst="roundRect">
            <a:avLst/>
          </a:prstGeom>
          <a:solidFill>
            <a:srgbClr val="14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720090" y="1234440"/>
          <a:ext cx="3497579" cy="1508760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4663440" y="1200150"/>
            <a:ext cx="3771900" cy="1577339"/>
          </a:xfrm>
          <a:prstGeom prst="roundRect">
            <a:avLst/>
          </a:prstGeom>
          <a:solidFill>
            <a:srgbClr val="14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00600" y="1268730"/>
            <a:ext cx="3497579" cy="14401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0EA5E9"/>
                </a:solidFill>
                <a:latin typeface="Segoe UI"/>
              </a:defRPr>
            </a:pPr>
            <a:r>
              <a:t>TRANSPARENT RECOMMENDATION RULES</a:t>
            </a:r>
          </a:p>
          <a:p>
            <a:pPr>
              <a:spcAft>
                <a:spcPts val="100"/>
              </a:spcAft>
            </a:pPr>
            <a:r>
              <a:rPr b="1" sz="850">
                <a:solidFill>
                  <a:srgbClr val="FFFFFF"/>
                </a:solidFill>
              </a:rPr>
              <a:t>• WAIT: </a:t>
            </a:r>
            <a:r>
              <a:rPr sz="800">
                <a:solidFill>
                  <a:srgbClr val="B4BBC6"/>
                </a:solidFill>
              </a:rPr>
              <a:t>Expected drop &gt;= 3% in next 30 days.</a:t>
            </a:r>
          </a:p>
          <a:p>
            <a:pPr>
              <a:spcAft>
                <a:spcPts val="100"/>
              </a:spcAft>
            </a:pPr>
            <a:r>
              <a:rPr b="1" sz="850">
                <a:solidFill>
                  <a:srgbClr val="FFFFFF"/>
                </a:solidFill>
              </a:rPr>
              <a:t>• BUY: </a:t>
            </a:r>
            <a:r>
              <a:rPr sz="800">
                <a:solidFill>
                  <a:srgbClr val="B4BBC6"/>
                </a:solidFill>
              </a:rPr>
              <a:t>Expected price change &lt; 3% over 30 days.</a:t>
            </a:r>
          </a:p>
          <a:p>
            <a:pPr>
              <a:spcAft>
                <a:spcPts val="100"/>
              </a:spcAft>
            </a:pPr>
            <a:r>
              <a:rPr b="1" sz="850">
                <a:solidFill>
                  <a:srgbClr val="FFFFFF"/>
                </a:solidFill>
              </a:rPr>
              <a:t>• STRONG BUY: </a:t>
            </a:r>
            <a:r>
              <a:rPr sz="800">
                <a:solidFill>
                  <a:srgbClr val="B4BBC6"/>
                </a:solidFill>
              </a:rPr>
              <a:t>Rising trend + high confidence + low drop risk.</a:t>
            </a:r>
          </a:p>
          <a:p>
            <a:pPr>
              <a:spcAft>
                <a:spcPts val="100"/>
              </a:spcAft>
            </a:pPr>
            <a:r>
              <a:rPr b="1" sz="850">
                <a:solidFill>
                  <a:srgbClr val="FFFFFF"/>
                </a:solidFill>
              </a:rPr>
              <a:t>• LOW CONFIDENCE: </a:t>
            </a:r>
            <a:r>
              <a:rPr sz="800">
                <a:solidFill>
                  <a:srgbClr val="B4BBC6"/>
                </a:solidFill>
              </a:rPr>
              <a:t>Fallback when validation MAPE accuracy &lt; 60%.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2880360"/>
            <a:ext cx="3566160" cy="1577339"/>
          </a:xfrm>
          <a:prstGeom prst="roundRect">
            <a:avLst/>
          </a:prstGeom>
          <a:solidFill>
            <a:srgbClr val="14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59" y="2948939"/>
            <a:ext cx="3291839" cy="14401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F59E0B"/>
                </a:solidFill>
                <a:latin typeface="Segoe UI"/>
              </a:defRPr>
            </a:pPr>
            <a:r>
              <a:t>"WHAT IF I WAIT?" SIMULATOR</a:t>
            </a:r>
          </a:p>
          <a:p>
            <a:pPr>
              <a:spcAft>
                <a:spcPts val="200"/>
              </a:spcAft>
              <a:defRPr sz="850">
                <a:solidFill>
                  <a:srgbClr val="FFFFFF"/>
                </a:solidFill>
                <a:latin typeface="Segoe UI"/>
              </a:defRPr>
            </a:pPr>
            <a:r>
              <a:t>• Dynamic Interpolation: Scales predicted price, potential savings, and probability of price drop based on user input wait days (1-90 days).</a:t>
            </a:r>
          </a:p>
          <a:p>
            <a:pPr>
              <a:defRPr sz="800">
                <a:solidFill>
                  <a:srgbClr val="B4BBC6"/>
                </a:solidFill>
                <a:latin typeface="Segoe UI"/>
              </a:defRPr>
            </a:pPr>
            <a:r>
              <a:t>• Example Demo: Simulating 30-day wait on Galaxy S-Series shows expected price of ₹39,999, savings of ₹3,000, and 12% risk of price increase.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63440" y="2880360"/>
            <a:ext cx="3771900" cy="1577339"/>
          </a:xfrm>
          <a:prstGeom prst="roundRect">
            <a:avLst/>
          </a:prstGeom>
          <a:solidFill>
            <a:srgbClr val="141E30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00600" y="2948939"/>
            <a:ext cx="3497579" cy="14401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F59E0B"/>
                </a:solidFill>
                <a:latin typeface="Segoe UI"/>
              </a:defRPr>
            </a:pPr>
            <a:r>
              <a:t>ON-DEMAND PRICE ALERTS</a:t>
            </a:r>
          </a:p>
          <a:p>
            <a:pPr>
              <a:spcAft>
                <a:spcPts val="200"/>
              </a:spcAft>
              <a:defRPr sz="850">
                <a:solidFill>
                  <a:srgbClr val="FFFFFF"/>
                </a:solidFill>
                <a:latin typeface="Segoe UI"/>
              </a:defRPr>
            </a:pPr>
            <a:r>
              <a:t>• Fetch-Triggered Checking: Target prices are stored in DB and evaluated only on-demand when user queries the forecast (no background cron scripts).</a:t>
            </a:r>
          </a:p>
          <a:p>
            <a:pPr>
              <a:defRPr sz="800">
                <a:solidFill>
                  <a:srgbClr val="B4BBC6"/>
                </a:solidFill>
                <a:latin typeface="Segoe UI"/>
              </a:defRPr>
            </a:pPr>
            <a:r>
              <a:t>• Active Alert Match: Compares user-defined target thresholds against the updated forecasting price path and flags crossing alerts immediately.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11580">
              <a:lnSpc>
                <a:spcPct val="100000"/>
              </a:lnSpc>
              <a:spcBef>
                <a:spcPts val="100"/>
              </a:spcBef>
            </a:pPr>
            <a:r>
              <a:rPr dirty="0"/>
              <a:t>THANK</a:t>
            </a:r>
            <a:r>
              <a:rPr dirty="0" spc="-195"/>
              <a:t> </a:t>
            </a:r>
            <a:r>
              <a:rPr dirty="0" spc="-20"/>
              <a:t>YOU!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26035" y="2971800"/>
            <a:ext cx="3291817" cy="714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902075" y="3083624"/>
            <a:ext cx="826769" cy="147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8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8462" y="126113"/>
            <a:ext cx="755925" cy="75592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325450" y="135563"/>
            <a:ext cx="737002" cy="7370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32004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600" b="1">
                <a:solidFill>
                  <a:srgbClr val="F59E0B"/>
                </a:solidFill>
                <a:latin typeface="Segoe UI"/>
              </a:defRPr>
            </a:pPr>
            <a:r>
              <a:t>PriceMind — Forecast. Explain. Recommend.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749039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1">
                <a:solidFill>
                  <a:srgbClr val="0EA5E9"/>
                </a:solidFill>
                <a:latin typeface="Segoe UI"/>
              </a:defRPr>
            </a:pPr>
            <a:r>
              <a:t>TRACK: Retail &amp; FinTech  |  TEAM: _________________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HACK-4-CROWN template.pptx</dc:title>
  <dcterms:created xsi:type="dcterms:W3CDTF">2026-08-15T12:02:22Z</dcterms:created>
  <dcterms:modified xsi:type="dcterms:W3CDTF">2026-08-15T12:02:22Z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2026-08-15T00:00:00Z</vt:filetime>
  </property>
  <property fmtid="{D5CDD505-2E9C-101B-9397-08002B2CF9AE}" pid="4" name="Creator">
    <vt:lpwstr>Google</vt:lpwstr>
  </property>
  <property fmtid="{D5CDD505-2E9C-101B-9397-08002B2CF9AE}" pid="5" name="LastSaved">
    <vt:filetime>2026-08-15T00:00:00Z</vt:filetime>
  </property>
</Properties>
</file>